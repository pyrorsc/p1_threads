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fd2c21bd-9bb2-4a70-1800-725316f124ed}">
          <p14:sldIdLst>
            <p14:sldId id="256"/>
            <p14:sldId id="257"/>
            <p14:sldId id="258"/>
            <p14:sldId id="259"/>
            <p14:sldId id="260"/>
          </p14:sldIdLst>
        </p14:section>
        <p14:section name="Results" id="{34f1a72b-8627-963f-11cf-04407dd469d6}">
          <p14:sldIdLst>
            <p14:sldId id="261"/>
            <p14:sldId id="262"/>
            <p14:sldId id="263"/>
          </p14:sldIdLst>
        </p14:section>
        <p14:section name="Bottlenecks" id="{0fb6747c-919b-e318-941a-699570274b9b}">
          <p14:sldIdLst>
            <p14:sldId id="264"/>
            <p14:sldId id="265"/>
            <p14:sldId id="266"/>
            <p14:sldId id="267"/>
          </p14:sldIdLst>
        </p14:section>
        <p14:section name="Conclusions" id="{da558931-76dd-0f56-c5c3-5ea62e998462}">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V1 immediate · straight</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Sheet1!$B$2:$B$9</c:f>
              <c:numCache>
                <c:formatCode>General</c:formatCode>
                <c:ptCount val="8"/>
                <c:pt idx="0">
                  <c:v>125.016</c:v>
                </c:pt>
                <c:pt idx="1">
                  <c:v>74.955</c:v>
                </c:pt>
                <c:pt idx="2">
                  <c:v>40.772</c:v>
                </c:pt>
                <c:pt idx="3">
                  <c:v>29.83</c:v>
                </c:pt>
                <c:pt idx="4">
                  <c:v>24.202</c:v>
                </c:pt>
                <c:pt idx="5">
                  <c:v>24.909</c:v>
                </c:pt>
                <c:pt idx="6">
                  <c:v>24.515</c:v>
                </c:pt>
                <c:pt idx="7">
                  <c:v>24.755</c:v>
                </c:pt>
              </c:numCache>
            </c:numRef>
          </c:val>
          <c:smooth val="0"/>
        </c:ser>
        <c:ser>
          <c:idx val="1"/>
          <c:order val="1"/>
          <c:tx>
            <c:strRef>
              <c:f>Sheet1!$C$1</c:f>
              <c:strCache>
                <c:ptCount val="1"/>
                <c:pt idx="0">
                  <c:v>V2 deferred · straight</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Sheet1!$C$2:$C$9</c:f>
              <c:numCache>
                <c:formatCode>General</c:formatCode>
                <c:ptCount val="8"/>
                <c:pt idx="0">
                  <c:v>126.554</c:v>
                </c:pt>
                <c:pt idx="1">
                  <c:v>88.424</c:v>
                </c:pt>
                <c:pt idx="2">
                  <c:v>61.333</c:v>
                </c:pt>
                <c:pt idx="3">
                  <c:v>50.251</c:v>
                </c:pt>
                <c:pt idx="4">
                  <c:v>45.799</c:v>
                </c:pt>
                <c:pt idx="5">
                  <c:v>44.506</c:v>
                </c:pt>
                <c:pt idx="6">
                  <c:v>47.259</c:v>
                </c:pt>
                <c:pt idx="7">
                  <c:v>53.334</c:v>
                </c:pt>
              </c:numCache>
            </c:numRef>
          </c:val>
          <c:smooth val="0"/>
        </c:ser>
        <c:ser>
          <c:idx val="2"/>
          <c:order val="2"/>
          <c:tx>
            <c:strRef>
              <c:f>Sheet1!$D$1</c:f>
              <c:strCache>
                <c:ptCount val="1"/>
                <c:pt idx="0">
                  <c:v>V3 immediate · divisibility</c:v>
                </c:pt>
              </c:strCache>
            </c:strRef>
          </c:tx>
          <c:spPr>
            <a:solidFill>
              <a:srgbClr val="1BAF7A"/>
            </a:solidFill>
            <a:ln w="3175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BAF7A"/>
              </a:solidFill>
              <a:ln w="9525" cap="flat">
                <a:solidFill>
                  <a:srgbClr val="1BAF7A"/>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Sheet1!$D$2:$D$9</c:f>
              <c:numCache>
                <c:formatCode>General</c:formatCode>
                <c:ptCount val="8"/>
                <c:pt idx="0">
                  <c:v>141.246</c:v>
                </c:pt>
                <c:pt idx="1">
                  <c:v>317.23</c:v>
                </c:pt>
                <c:pt idx="2">
                  <c:v>732.825</c:v>
                </c:pt>
                <c:pt idx="3">
                  <c:v>1448.859</c:v>
                </c:pt>
                <c:pt idx="4">
                  <c:v>2303.378</c:v>
                </c:pt>
                <c:pt idx="5">
                  <c:v>9065.564</c:v>
                </c:pt>
                <c:pt idx="6">
                  <c:v>18406.994</c:v>
                </c:pt>
                <c:pt idx="7">
                  <c:v>37414.521</c:v>
                </c:pt>
              </c:numCache>
            </c:numRef>
          </c:val>
          <c:smooth val="0"/>
        </c:ser>
        <c:ser>
          <c:idx val="3"/>
          <c:order val="3"/>
          <c:tx>
            <c:strRef>
              <c:f>Sheet1!$E$1</c:f>
              <c:strCache>
                <c:ptCount val="1"/>
                <c:pt idx="0">
                  <c:v>V4 deferred · divisibility</c:v>
                </c:pt>
              </c:strCache>
            </c:strRef>
          </c:tx>
          <c:spPr>
            <a:solidFill>
              <a:srgbClr val="EDA100"/>
            </a:solidFill>
            <a:ln w="3175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DA100"/>
              </a:solidFill>
              <a:ln w="9525" cap="flat">
                <a:solidFill>
                  <a:srgbClr val="EDA100"/>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Sheet1!$E$2:$E$9</c:f>
              <c:numCache>
                <c:formatCode>General</c:formatCode>
                <c:ptCount val="8"/>
                <c:pt idx="0">
                  <c:v>141.265</c:v>
                </c:pt>
                <c:pt idx="1">
                  <c:v>239.278</c:v>
                </c:pt>
                <c:pt idx="2">
                  <c:v>362.774</c:v>
                </c:pt>
                <c:pt idx="3">
                  <c:v>809.016</c:v>
                </c:pt>
                <c:pt idx="4">
                  <c:v>2256.82</c:v>
                </c:pt>
                <c:pt idx="5">
                  <c:v>8966.558</c:v>
                </c:pt>
                <c:pt idx="6">
                  <c:v>18339.197</c:v>
                </c:pt>
                <c:pt idx="7">
                  <c:v>37507.565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160"/>
                    </a:solidFill>
                    <a:latin typeface="+mn-lt"/>
                  </a:defRPr>
                </a:pPr>
                <a:r>
                  <a:rPr sz="1200" b="0" i="0" u="none" strike="noStrike">
                    <a:solidFill>
                      <a:srgbClr val="4A5160"/>
                    </a:solidFill>
                    <a:latin typeface="+mn-lt"/>
                  </a:rPr>
                  <a:t>Threads (x)</a:t>
                </a:r>
              </a:p>
            </c:rich>
          </c:tx>
          <c:layout/>
          <c:overlay val="0"/>
        </c:title>
        <c:numFmt formatCode="General" sourceLinked="1"/>
        <c:majorTickMark val="out"/>
        <c:minorTickMark val="none"/>
        <c:tickLblPos val="low"/>
        <c:spPr>
          <a:ln w="12700" cap="flat">
            <a:solidFill>
              <a:srgbClr val="E3E6EB"/>
            </a:solidFill>
            <a:prstDash val="solid"/>
            <a:round/>
          </a:ln>
        </c:spPr>
        <c:txPr>
          <a:bodyPr/>
          <a:lstStyle/>
          <a:p>
            <a:pPr>
              <a:defRPr sz="1200" b="0" i="0" u="none" strike="noStrike">
                <a:solidFill>
                  <a:srgbClr val="4A5160"/>
                </a:solidFill>
                <a:latin typeface="+mn-lt"/>
              </a:defRPr>
            </a:pPr>
            <a:endParaRPr lang="en-US"/>
          </a:p>
        </c:txPr>
        <c:crossAx val="2094734552"/>
        <c:crosses val="autoZero"/>
        <c:auto val="1"/>
        <c:lblAlgn val="ctr"/>
        <c:noMultiLvlLbl val="1"/>
      </c:catAx>
      <c:valAx>
        <c:axId val="2094734552"/>
        <c:scaling>
          <c:logBase val="10"/>
          <c:orientation val="minMax"/>
          <c:max val="100000"/>
          <c:min val="10"/>
        </c:scaling>
        <c:delete val="0"/>
        <c:axPos val="l"/>
        <c:majorGridlines>
          <c:spPr>
            <a:ln w="9525" cap="flat">
              <a:solidFill>
                <a:srgbClr val="E3E6EB"/>
              </a:solidFill>
              <a:prstDash val="solid"/>
              <a:round/>
            </a:ln>
          </c:spPr>
        </c:majorGridlines>
        <c:title>
          <c:tx>
            <c:rich>
              <a:bodyPr/>
              <a:lstStyle/>
              <a:p>
                <a:pPr>
                  <a:defRPr sz="1200" b="0" i="0" u="none" strike="noStrike">
                    <a:solidFill>
                      <a:srgbClr val="4A5160"/>
                    </a:solidFill>
                    <a:latin typeface="+mn-lt"/>
                  </a:defRPr>
                </a:pPr>
                <a:r>
                  <a:rPr sz="1200" b="0" i="0" u="none" strike="noStrike">
                    <a:solidFill>
                      <a:srgbClr val="4A5160"/>
                    </a:solidFill>
                    <a:latin typeface="+mn-lt"/>
                  </a:rPr>
                  <a:t>Run time (ms, log scale)</a:t>
                </a:r>
              </a:p>
            </c:rich>
          </c:tx>
          <c:layout/>
          <c:overlay val="0"/>
        </c:title>
        <c:numFmt formatCode="#,##0" sourceLinked="0"/>
        <c:majorTickMark val="out"/>
        <c:minorTickMark val="none"/>
        <c:tickLblPos val="nextTo"/>
        <c:spPr>
          <a:ln w="12700" cap="flat">
            <a:noFill/>
            <a:prstDash val="solid"/>
            <a:round/>
          </a:ln>
        </c:spPr>
        <c:txPr>
          <a:bodyPr/>
          <a:lstStyle/>
          <a:p>
            <a:pPr>
              <a:defRPr sz="1200" b="0" i="0" u="none" strike="noStrike">
                <a:solidFill>
                  <a:srgbClr val="4A51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51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V1 immediate · straight</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Sheet1!$B$2:$B$9</c:f>
              <c:numCache>
                <c:formatCode>General</c:formatCode>
                <c:ptCount val="8"/>
                <c:pt idx="0">
                  <c:v>1</c:v>
                </c:pt>
                <c:pt idx="1">
                  <c:v>1.6353545057710093</c:v>
                </c:pt>
                <c:pt idx="2">
                  <c:v>3.04899023875557</c:v>
                </c:pt>
                <c:pt idx="3">
                  <c:v>5.744935889498035</c:v>
                </c:pt>
                <c:pt idx="4">
                  <c:v>7.519846988544769</c:v>
                </c:pt>
                <c:pt idx="5">
                  <c:v>7.9871599033393</c:v>
                </c:pt>
                <c:pt idx="6">
                  <c:v>8.171975032266536</c:v>
                </c:pt>
                <c:pt idx="7">
                  <c:v>8.186736396303901</c:v>
                </c:pt>
              </c:numCache>
            </c:numRef>
          </c:val>
          <c:smooth val="0"/>
        </c:ser>
        <c:ser>
          <c:idx val="1"/>
          <c:order val="1"/>
          <c:tx>
            <c:strRef>
              <c:f>Sheet1!$C$1</c:f>
              <c:strCache>
                <c:ptCount val="1"/>
                <c:pt idx="0">
                  <c:v>V2 deferred · straight</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Sheet1!$C$2:$C$9</c:f>
              <c:numCache>
                <c:formatCode>General</c:formatCode>
                <c:ptCount val="8"/>
                <c:pt idx="0">
                  <c:v>1</c:v>
                </c:pt>
                <c:pt idx="1">
                  <c:v>1.5235911945870664</c:v>
                </c:pt>
                <c:pt idx="2">
                  <c:v>2.524865063558341</c:v>
                </c:pt>
                <c:pt idx="3">
                  <c:v>3.976356725699839</c:v>
                </c:pt>
                <c:pt idx="4">
                  <c:v>4.486366183371857</c:v>
                </c:pt>
                <c:pt idx="5">
                  <c:v>4.733659001636964</c:v>
                </c:pt>
                <c:pt idx="6">
                  <c:v>4.733877658110088</c:v>
                </c:pt>
                <c:pt idx="7">
                  <c:v>4.764964942624932</c:v>
                </c:pt>
              </c:numCache>
            </c:numRef>
          </c:val>
          <c:smooth val="0"/>
        </c:ser>
        <c:ser>
          <c:idx val="2"/>
          <c:order val="2"/>
          <c:tx>
            <c:strRef>
              <c:f>Sheet1!$D$1</c:f>
              <c:strCache>
                <c:ptCount val="1"/>
                <c:pt idx="0">
                  <c:v>Perfect scaling</c:v>
                </c:pt>
              </c:strCache>
            </c:strRef>
          </c:tx>
          <c:spPr>
            <a:solidFill>
              <a:srgbClr val="8A8F99"/>
            </a:solidFill>
            <a:ln w="31750" cap="flat">
              <a:solidFill>
                <a:srgbClr val="8A8F9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8A8F99"/>
              </a:solidFill>
              <a:ln w="9525" cap="flat">
                <a:solidFill>
                  <a:srgbClr val="8A8F99"/>
                </a:solidFill>
                <a:prstDash val="solid"/>
                <a:round/>
              </a:ln>
              <a:effectLst/>
            </c:spPr>
          </c:marker>
          <c:cat>
            <c:multiLvlStrRef>
              <c:f>Sheet1!$A$2:$A$9</c:f>
              <c:multiLvlStrCache>
                <c:ptCount val="8"/>
                <c:lvl>
                  <c:pt idx="0">
                    <c:v>1</c:v>
                  </c:pt>
                  <c:pt idx="1">
                    <c:v>2</c:v>
                  </c:pt>
                  <c:pt idx="2">
                    <c:v>4</c:v>
                  </c:pt>
                  <c:pt idx="3">
                    <c:v>8</c:v>
                  </c:pt>
                  <c:pt idx="4">
                    <c:v>16</c:v>
                  </c:pt>
                  <c:pt idx="5">
                    <c:v>32</c:v>
                  </c:pt>
                  <c:pt idx="6">
                    <c:v>64</c:v>
                  </c:pt>
                  <c:pt idx="7">
                    <c:v>128</c:v>
                  </c:pt>
                </c:lvl>
              </c:multiLvlStrCache>
            </c:multiLvlStrRef>
          </c:cat>
          <c:val>
            <c:numRef>
              <c:f>Sheet1!$D$2:$D$9</c:f>
              <c:numCache>
                <c:formatCode>General</c:formatCode>
                <c:ptCount val="8"/>
                <c:pt idx="0">
                  <c:v>1</c:v>
                </c:pt>
                <c:pt idx="1">
                  <c:v>2</c:v>
                </c:pt>
                <c:pt idx="2">
                  <c:v>4</c:v>
                </c:pt>
                <c:pt idx="3">
                  <c:v>8</c:v>
                </c:pt>
                <c:pt idx="4">
                  <c:v>16</c:v>
                </c:pt>
                <c:pt idx="5">
                  <c:v>32</c:v>
                </c:pt>
                <c:pt idx="6">
                  <c:v>64</c:v>
                </c:pt>
                <c:pt idx="7">
                  <c:v>128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160"/>
                    </a:solidFill>
                    <a:latin typeface="+mn-lt"/>
                  </a:defRPr>
                </a:pPr>
                <a:r>
                  <a:rPr sz="1200" b="0" i="0" u="none" strike="noStrike">
                    <a:solidFill>
                      <a:srgbClr val="4A5160"/>
                    </a:solidFill>
                    <a:latin typeface="+mn-lt"/>
                  </a:rPr>
                  <a:t>Threads (x)</a:t>
                </a:r>
              </a:p>
            </c:rich>
          </c:tx>
          <c:layout/>
          <c:overlay val="0"/>
        </c:title>
        <c:numFmt formatCode="General" sourceLinked="1"/>
        <c:majorTickMark val="out"/>
        <c:minorTickMark val="none"/>
        <c:tickLblPos val="low"/>
        <c:spPr>
          <a:ln w="12700" cap="flat">
            <a:solidFill>
              <a:srgbClr val="E3E6EB"/>
            </a:solidFill>
            <a:prstDash val="solid"/>
            <a:round/>
          </a:ln>
        </c:spPr>
        <c:txPr>
          <a:bodyPr/>
          <a:lstStyle/>
          <a:p>
            <a:pPr>
              <a:defRPr sz="1200" b="0" i="0" u="none" strike="noStrike">
                <a:solidFill>
                  <a:srgbClr val="4A5160"/>
                </a:solidFill>
                <a:latin typeface="+mn-lt"/>
              </a:defRPr>
            </a:pPr>
            <a:endParaRPr lang="en-US"/>
          </a:p>
        </c:txPr>
        <c:crossAx val="2094734552"/>
        <c:crosses val="autoZero"/>
        <c:auto val="1"/>
        <c:lblAlgn val="ctr"/>
        <c:noMultiLvlLbl val="1"/>
      </c:catAx>
      <c:valAx>
        <c:axId val="2094734552"/>
        <c:scaling>
          <c:logBase val="2"/>
          <c:orientation val="minMax"/>
          <c:max val="128"/>
          <c:min val="1"/>
        </c:scaling>
        <c:delete val="0"/>
        <c:axPos val="l"/>
        <c:majorGridlines>
          <c:spPr>
            <a:ln w="9525" cap="flat">
              <a:solidFill>
                <a:srgbClr val="E3E6EB"/>
              </a:solidFill>
              <a:prstDash val="solid"/>
              <a:round/>
            </a:ln>
          </c:spPr>
        </c:majorGridlines>
        <c:title>
          <c:tx>
            <c:rich>
              <a:bodyPr/>
              <a:lstStyle/>
              <a:p>
                <a:pPr>
                  <a:defRPr sz="1200" b="0" i="0" u="none" strike="noStrike">
                    <a:solidFill>
                      <a:srgbClr val="4A5160"/>
                    </a:solidFill>
                    <a:latin typeface="+mn-lt"/>
                  </a:defRPr>
                </a:pPr>
                <a:r>
                  <a:rPr sz="1200" b="0" i="0" u="none" strike="noStrike">
                    <a:solidFill>
                      <a:srgbClr val="4A5160"/>
                    </a:solidFill>
                    <a:latin typeface="+mn-lt"/>
                  </a:rPr>
                  <a:t>Speedup over 1 thread (log scale)</a:t>
                </a:r>
              </a:p>
            </c:rich>
          </c:tx>
          <c:layout/>
          <c:overlay val="0"/>
        </c:title>
        <c:numFmt formatCode="0&quot;×&quot;" sourceLinked="0"/>
        <c:majorTickMark val="out"/>
        <c:minorTickMark val="none"/>
        <c:tickLblPos val="nextTo"/>
        <c:spPr>
          <a:ln w="12700" cap="flat">
            <a:noFill/>
            <a:prstDash val="solid"/>
            <a:round/>
          </a:ln>
        </c:spPr>
        <c:txPr>
          <a:bodyPr/>
          <a:lstStyle/>
          <a:p>
            <a:pPr>
              <a:defRPr sz="1200" b="0" i="0" u="none" strike="noStrike">
                <a:solidFill>
                  <a:srgbClr val="4A51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A51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Searching its block</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Thread 8</c:v>
                  </c:pt>
                  <c:pt idx="1">
                    <c:v>Thread 7</c:v>
                  </c:pt>
                  <c:pt idx="2">
                    <c:v>Thread 6</c:v>
                  </c:pt>
                  <c:pt idx="3">
                    <c:v>Thread 5</c:v>
                  </c:pt>
                  <c:pt idx="4">
                    <c:v>Thread 4</c:v>
                  </c:pt>
                  <c:pt idx="5">
                    <c:v>Thread 3</c:v>
                  </c:pt>
                  <c:pt idx="6">
                    <c:v>Thread 2</c:v>
                  </c:pt>
                  <c:pt idx="7">
                    <c:v>Thread 1</c:v>
                  </c:pt>
                </c:lvl>
              </c:multiLvlStrCache>
            </c:multiLvlStrRef>
          </c:cat>
          <c:val>
            <c:numRef>
              <c:f>Sheet1!$B$2:$B$9</c:f>
              <c:numCache>
                <c:formatCode>General</c:formatCode>
                <c:ptCount val="8"/>
                <c:pt idx="0">
                  <c:v>397.71294593811035</c:v>
                </c:pt>
                <c:pt idx="1">
                  <c:v>375.75697898864746</c:v>
                </c:pt>
                <c:pt idx="2">
                  <c:v>351.03583335876465</c:v>
                </c:pt>
                <c:pt idx="3">
                  <c:v>323.37284088134766</c:v>
                </c:pt>
                <c:pt idx="4">
                  <c:v>292.7539348602295</c:v>
                </c:pt>
                <c:pt idx="5">
                  <c:v>255.46693801879883</c:v>
                </c:pt>
                <c:pt idx="6">
                  <c:v>238.94286155700684</c:v>
                </c:pt>
                <c:pt idx="7">
                  <c:v>162.52803802490234</c:v>
                </c:pt>
              </c:numCache>
            </c:numRef>
          </c:val>
        </c:ser>
        <c:ser>
          <c:idx val="1"/>
          <c:order val="1"/>
          <c:tx>
            <c:strRef>
              <c:f>Sheet1!$C$1</c:f>
              <c:strCache>
                <c:ptCount val="1"/>
                <c:pt idx="0">
                  <c:v>Finished, waiting for join</c:v>
                </c:pt>
              </c:strCache>
            </c:strRef>
          </c:tx>
          <c:spPr>
            <a:solidFill>
              <a:srgbClr val="D5D9E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Thread 8</c:v>
                  </c:pt>
                  <c:pt idx="1">
                    <c:v>Thread 7</c:v>
                  </c:pt>
                  <c:pt idx="2">
                    <c:v>Thread 6</c:v>
                  </c:pt>
                  <c:pt idx="3">
                    <c:v>Thread 5</c:v>
                  </c:pt>
                  <c:pt idx="4">
                    <c:v>Thread 4</c:v>
                  </c:pt>
                  <c:pt idx="5">
                    <c:v>Thread 3</c:v>
                  </c:pt>
                  <c:pt idx="6">
                    <c:v>Thread 2</c:v>
                  </c:pt>
                  <c:pt idx="7">
                    <c:v>Thread 1</c:v>
                  </c:pt>
                </c:lvl>
              </c:multiLvlStrCache>
            </c:multiLvlStrRef>
          </c:cat>
          <c:val>
            <c:numRef>
              <c:f>Sheet1!$C$2:$C$9</c:f>
              <c:numCache>
                <c:formatCode>General</c:formatCode>
                <c:ptCount val="8"/>
                <c:pt idx="0">
                  <c:v>0</c:v>
                </c:pt>
                <c:pt idx="1">
                  <c:v>21.95596694946289</c:v>
                </c:pt>
                <c:pt idx="2">
                  <c:v>46.6771125793457</c:v>
                </c:pt>
                <c:pt idx="3">
                  <c:v>74.3401050567627</c:v>
                </c:pt>
                <c:pt idx="4">
                  <c:v>104.95901107788086</c:v>
                </c:pt>
                <c:pt idx="5">
                  <c:v>142.24600791931152</c:v>
                </c:pt>
                <c:pt idx="6">
                  <c:v>158.77008438110352</c:v>
                </c:pt>
                <c:pt idx="7">
                  <c:v>235.184907913208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3E6EB"/>
            </a:solidFill>
            <a:prstDash val="solid"/>
            <a:round/>
          </a:ln>
        </c:spPr>
        <c:txPr>
          <a:bodyPr/>
          <a:lstStyle/>
          <a:p>
            <a:pPr>
              <a:defRPr sz="1200" b="0" i="0" u="none" strike="noStrike">
                <a:solidFill>
                  <a:srgbClr val="4A5160"/>
                </a:solidFill>
                <a:latin typeface="+mn-lt"/>
              </a:defRPr>
            </a:pPr>
            <a:endParaRPr lang="en-US"/>
          </a:p>
        </c:txPr>
        <c:crossAx val="2094734552"/>
        <c:crosses val="autoZero"/>
        <c:auto val="1"/>
        <c:lblAlgn val="ctr"/>
        <c:noMultiLvlLbl val="1"/>
      </c:catAx>
      <c:valAx>
        <c:axId val="2094734552"/>
        <c:scaling>
          <c:orientation val="minMax"/>
          <c:max val="400"/>
          <c:min val="0"/>
        </c:scaling>
        <c:delete val="0"/>
        <c:axPos val="b"/>
        <c:majorGridlines>
          <c:spPr>
            <a:ln w="9525" cap="flat">
              <a:solidFill>
                <a:srgbClr val="E3E6EB"/>
              </a:solidFill>
              <a:prstDash val="solid"/>
              <a:round/>
            </a:ln>
          </c:spPr>
        </c:majorGridlines>
        <c:title>
          <c:tx>
            <c:rich>
              <a:bodyPr/>
              <a:lstStyle/>
              <a:p>
                <a:pPr>
                  <a:defRPr sz="1200" b="0" i="0" u="none" strike="noStrike">
                    <a:solidFill>
                      <a:srgbClr val="4A5160"/>
                    </a:solidFill>
                    <a:latin typeface="+mn-lt"/>
                  </a:defRPr>
                </a:pPr>
                <a:r>
                  <a:rPr sz="1200" b="0" i="0" u="none" strike="noStrike">
                    <a:solidFill>
                      <a:srgbClr val="4A5160"/>
                    </a:solidFill>
                    <a:latin typeface="+mn-lt"/>
                  </a:rPr>
                  <a:t>Time since start (ms) · join() returns at 398 ms</a:t>
                </a:r>
              </a:p>
            </c:rich>
          </c:tx>
          <c:layout/>
          <c:overlay val="0"/>
        </c:title>
        <c:numFmt formatCode="#,##0" sourceLinked="0"/>
        <c:majorTickMark val="out"/>
        <c:minorTickMark val="none"/>
        <c:tickLblPos val="low"/>
        <c:spPr>
          <a:ln w="12700" cap="flat">
            <a:noFill/>
            <a:prstDash val="solid"/>
            <a:round/>
          </a:ln>
        </c:spPr>
        <c:txPr>
          <a:bodyPr/>
          <a:lstStyle/>
          <a:p>
            <a:pPr>
              <a:defRPr sz="1200" b="0" i="0" u="none" strike="noStrike">
                <a:solidFill>
                  <a:srgbClr val="4A5160"/>
                </a:solidFill>
                <a:latin typeface="+mn-lt"/>
              </a:defRPr>
            </a:pPr>
            <a:endParaRPr lang="en-US"/>
          </a:p>
        </c:txPr>
        <c:crossAx val="2094734554"/>
        <c:crosses val="autoZero"/>
        <c:crossBetween val="between"/>
        <c:majorUnit val="50"/>
      </c:valAx>
      <c:spPr>
        <a:noFill/>
        <a:ln>
          <a:noFill/>
        </a:ln>
        <a:effectLst/>
      </c:spPr>
    </c:plotArea>
    <c:legend>
      <c:legendPos val="t"/>
      <c:overlay val="0"/>
      <c:txPr>
        <a:bodyPr/>
        <a:lstStyle/>
        <a:p>
          <a:pPr>
            <a:defRPr sz="1200">
              <a:solidFill>
                <a:srgbClr val="4A51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Run time (ms)</c:v>
                </c:pt>
              </c:strCache>
            </c:strRef>
          </c:tx>
          <c:spPr>
            <a:solidFill>
              <a:srgbClr val="EB6834"/>
            </a:solidFill>
            <a:effectLst/>
          </c:spPr>
          <c:invertIfNegative val="0"/>
          <c:dLbls>
            <c:numFmt formatCode="#,##0&quot; ms&quot;" sourceLinked="0"/>
            <c:txPr>
              <a:bodyPr/>
              <a:lstStyle/>
              <a:p>
                <a:pPr>
                  <a:defRPr b="0" i="0" strike="noStrike" sz="1400" u="none">
                    <a:solidFill>
                      <a:srgbClr val="1B2230"/>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cat>
            <c:multiLvlStrRef>
              <c:f>Sheet1!$A$2:$A$3</c:f>
              <c:multiLvlStrCache>
                <c:ptCount val="2"/>
                <c:lvl>
                  <c:pt idx="0">
                    <c:v>V2</c:v>
                  </c:pt>
                  <c:pt idx="1">
                    <c:v>V1</c:v>
                  </c:pt>
                </c:lvl>
              </c:multiLvlStrCache>
            </c:multiLvlStrRef>
          </c:cat>
          <c:val>
            <c:numRef>
              <c:f>Sheet1!$B$2:$B$3</c:f>
              <c:numCache>
                <c:formatCode>General</c:formatCode>
                <c:ptCount val="2"/>
                <c:pt idx="0">
                  <c:v>537.69</c:v>
                </c:pt>
                <c:pt idx="1">
                  <c:v>311.68</c:v>
                </c:pt>
              </c:numCache>
            </c:numRef>
          </c:val>
        </c:ser>
        <c:dLbls>
          <c:numFmt formatCode="#,##0&quot; ms&quot;" sourceLinked="0"/>
          <c:txPr>
            <a:bodyPr/>
            <a:lstStyle/>
            <a:p>
              <a:pPr>
                <a:defRPr b="0" i="0" strike="noStrike" sz="1400" u="none">
                  <a:solidFill>
                    <a:srgbClr val="1B223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3E6EB"/>
            </a:solidFill>
            <a:prstDash val="solid"/>
            <a:round/>
          </a:ln>
        </c:spPr>
        <c:txPr>
          <a:bodyPr/>
          <a:lstStyle/>
          <a:p>
            <a:pPr>
              <a:defRPr sz="1500" b="0" i="0" u="none" strike="noStrike">
                <a:solidFill>
                  <a:srgbClr val="4A5160"/>
                </a:solidFill>
                <a:latin typeface="+mn-lt"/>
              </a:defRPr>
            </a:pPr>
            <a:endParaRPr lang="en-US"/>
          </a:p>
        </c:txPr>
        <c:crossAx val="2094734552"/>
        <c:crosses val="autoZero"/>
        <c:auto val="1"/>
        <c:lblAlgn val="ctr"/>
        <c:noMultiLvlLbl val="1"/>
      </c:catAx>
      <c:valAx>
        <c:axId val="2094734552"/>
        <c:scaling>
          <c:orientation val="minMax"/>
          <c:max val="698.99700000000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4A51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Run time (ms)</c:v>
                </c:pt>
              </c:strCache>
            </c:strRef>
          </c:tx>
          <c:spPr>
            <a:solidFill>
              <a:srgbClr val="EDA100"/>
            </a:solidFill>
            <a:effectLst/>
          </c:spPr>
          <c:invertIfNegative val="0"/>
          <c:dLbls>
            <c:numFmt formatCode="#,##0&quot; ms&quot;" sourceLinked="0"/>
            <c:txPr>
              <a:bodyPr/>
              <a:lstStyle/>
              <a:p>
                <a:pPr>
                  <a:defRPr b="0" i="0" strike="noStrike" sz="1400" u="none">
                    <a:solidFill>
                      <a:srgbClr val="1B2230"/>
                    </a:solidFill>
                    <a:latin typeface="+mn-lt"/>
                  </a:defRPr>
                </a:pPr>
              </a:p>
            </c:txPr>
            <c:showLegendKey val="0"/>
            <c:showVal val="1"/>
            <c:showCatName val="0"/>
            <c:showSerName val="0"/>
            <c:showPercent val="0"/>
            <c:showBubbleSize val="0"/>
            <c:showLeaderLines val="0"/>
          </c:dLbls>
          <c:dPt>
            <c:idx val="0"/>
            <c:invertIfNegative val="0"/>
            <c:bubble3D val="0"/>
            <c:spPr>
              <a:solidFill>
                <a:srgbClr val="EDA100"/>
              </a:solidFill>
              <a:effectLst/>
            </c:spPr>
          </c:dPt>
          <c:dPt>
            <c:idx val="1"/>
            <c:invertIfNegative val="0"/>
            <c:bubble3D val="0"/>
            <c:spPr>
              <a:solidFill>
                <a:srgbClr val="1BAF7A"/>
              </a:solidFill>
              <a:effectLst/>
            </c:spPr>
          </c:dPt>
          <c:cat>
            <c:multiLvlStrRef>
              <c:f>Sheet1!$A$2:$A$3</c:f>
              <c:multiLvlStrCache>
                <c:ptCount val="2"/>
                <c:lvl>
                  <c:pt idx="0">
                    <c:v>V4</c:v>
                  </c:pt>
                  <c:pt idx="1">
                    <c:v>V3</c:v>
                  </c:pt>
                </c:lvl>
              </c:multiLvlStrCache>
            </c:multiLvlStrRef>
          </c:cat>
          <c:val>
            <c:numRef>
              <c:f>Sheet1!$B$2:$B$3</c:f>
              <c:numCache>
                <c:formatCode>General</c:formatCode>
                <c:ptCount val="2"/>
                <c:pt idx="0">
                  <c:v>362.774</c:v>
                </c:pt>
                <c:pt idx="1">
                  <c:v>732.825</c:v>
                </c:pt>
              </c:numCache>
            </c:numRef>
          </c:val>
        </c:ser>
        <c:dLbls>
          <c:numFmt formatCode="#,##0&quot; ms&quot;" sourceLinked="0"/>
          <c:txPr>
            <a:bodyPr/>
            <a:lstStyle/>
            <a:p>
              <a:pPr>
                <a:defRPr b="0" i="0" strike="noStrike" sz="1400" u="none">
                  <a:solidFill>
                    <a:srgbClr val="1B2230"/>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3E6EB"/>
            </a:solidFill>
            <a:prstDash val="solid"/>
            <a:round/>
          </a:ln>
        </c:spPr>
        <c:txPr>
          <a:bodyPr/>
          <a:lstStyle/>
          <a:p>
            <a:pPr>
              <a:defRPr sz="1500" b="0" i="0" u="none" strike="noStrike">
                <a:solidFill>
                  <a:srgbClr val="4A5160"/>
                </a:solidFill>
                <a:latin typeface="+mn-lt"/>
              </a:defRPr>
            </a:pPr>
            <a:endParaRPr lang="en-US"/>
          </a:p>
        </c:txPr>
        <c:crossAx val="2094734552"/>
        <c:crosses val="autoZero"/>
        <c:auto val="1"/>
        <c:lblAlgn val="ctr"/>
        <c:noMultiLvlLbl val="1"/>
      </c:catAx>
      <c:valAx>
        <c:axId val="2094734552"/>
        <c:scaling>
          <c:orientation val="minMax"/>
          <c:max val="952.67250000000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4A51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Thread that printed it</c:v>
                </c:pt>
              </c:strCache>
            </c:strRef>
          </c:tx>
          <c:spPr>
            <a:solidFill>
              <a:srgbClr val="2A78D6"/>
            </a:solidFill>
            <a:ln>
              <a:noFill/>
            </a:ln>
            <a:effectLst/>
          </c:spPr>
          <c:marker>
            <c:symbol val="circle"/>
            <c:size val="7"/>
            <c:spPr>
              <a:solidFill>
                <a:srgbClr val="2A78D6"/>
              </a:solidFill>
              <a:ln w="9525" cap="flat">
                <a:solidFill>
                  <a:srgbClr val="2A78D6"/>
                </a:solidFill>
                <a:prstDash val="solid"/>
                <a:round/>
              </a:ln>
              <a:effectLst/>
            </c:spPr>
          </c:marker>
          <c:xVal>
            <c:numRef>
              <c:f>Sheet1!$A$2:$A$121</c:f>
              <c:numCache>
                <c:formatCode>General</c:formatCode>
                <c:ptCount val="12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numCache>
            </c:numRef>
          </c:xVal>
          <c:yVal>
            <c:numRef>
              <c:f>Sheet1!$B$2:$B$121</c:f>
              <c:numCache>
                <c:formatCode>General</c:formatCode>
                <c:ptCount val="120"/>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4</c:v>
                </c:pt>
                <c:pt idx="18">
                  <c:v>2</c:v>
                </c:pt>
                <c:pt idx="19">
                  <c:v>4</c:v>
                </c:pt>
                <c:pt idx="20">
                  <c:v>2</c:v>
                </c:pt>
                <c:pt idx="21">
                  <c:v>4</c:v>
                </c:pt>
                <c:pt idx="22">
                  <c:v>2</c:v>
                </c:pt>
                <c:pt idx="23">
                  <c:v>2</c:v>
                </c:pt>
                <c:pt idx="24">
                  <c:v>2</c:v>
                </c:pt>
                <c:pt idx="25">
                  <c:v>4</c:v>
                </c:pt>
                <c:pt idx="26">
                  <c:v>2</c:v>
                </c:pt>
                <c:pt idx="27">
                  <c:v>2</c:v>
                </c:pt>
                <c:pt idx="28">
                  <c:v>4</c:v>
                </c:pt>
                <c:pt idx="29">
                  <c:v>2</c:v>
                </c:pt>
                <c:pt idx="30">
                  <c:v>2</c:v>
                </c:pt>
                <c:pt idx="31">
                  <c:v>4</c:v>
                </c:pt>
                <c:pt idx="32">
                  <c:v>2</c:v>
                </c:pt>
                <c:pt idx="33">
                  <c:v>2</c:v>
                </c:pt>
                <c:pt idx="34">
                  <c:v>2</c:v>
                </c:pt>
                <c:pt idx="35">
                  <c:v>2</c:v>
                </c:pt>
                <c:pt idx="36">
                  <c:v>3</c:v>
                </c:pt>
                <c:pt idx="37">
                  <c:v>4</c:v>
                </c:pt>
                <c:pt idx="38">
                  <c:v>2</c:v>
                </c:pt>
                <c:pt idx="39">
                  <c:v>4</c:v>
                </c:pt>
                <c:pt idx="40">
                  <c:v>2</c:v>
                </c:pt>
                <c:pt idx="41">
                  <c:v>2</c:v>
                </c:pt>
                <c:pt idx="42">
                  <c:v>3</c:v>
                </c:pt>
                <c:pt idx="43">
                  <c:v>2</c:v>
                </c:pt>
                <c:pt idx="44">
                  <c:v>4</c:v>
                </c:pt>
                <c:pt idx="45">
                  <c:v>2</c:v>
                </c:pt>
                <c:pt idx="46">
                  <c:v>2</c:v>
                </c:pt>
                <c:pt idx="47">
                  <c:v>1</c:v>
                </c:pt>
                <c:pt idx="48">
                  <c:v>4</c:v>
                </c:pt>
                <c:pt idx="49">
                  <c:v>3</c:v>
                </c:pt>
                <c:pt idx="50">
                  <c:v>1</c:v>
                </c:pt>
                <c:pt idx="51">
                  <c:v>4</c:v>
                </c:pt>
                <c:pt idx="52">
                  <c:v>1</c:v>
                </c:pt>
                <c:pt idx="53">
                  <c:v>3</c:v>
                </c:pt>
                <c:pt idx="54">
                  <c:v>2</c:v>
                </c:pt>
                <c:pt idx="55">
                  <c:v>1</c:v>
                </c:pt>
                <c:pt idx="56">
                  <c:v>4</c:v>
                </c:pt>
                <c:pt idx="57">
                  <c:v>2</c:v>
                </c:pt>
                <c:pt idx="58">
                  <c:v>3</c:v>
                </c:pt>
                <c:pt idx="59">
                  <c:v>1</c:v>
                </c:pt>
                <c:pt idx="60">
                  <c:v>2</c:v>
                </c:pt>
                <c:pt idx="61">
                  <c:v>4</c:v>
                </c:pt>
                <c:pt idx="62">
                  <c:v>1</c:v>
                </c:pt>
                <c:pt idx="63">
                  <c:v>2</c:v>
                </c:pt>
                <c:pt idx="64">
                  <c:v>3</c:v>
                </c:pt>
                <c:pt idx="65">
                  <c:v>1</c:v>
                </c:pt>
                <c:pt idx="66">
                  <c:v>4</c:v>
                </c:pt>
                <c:pt idx="67">
                  <c:v>2</c:v>
                </c:pt>
                <c:pt idx="68">
                  <c:v>4</c:v>
                </c:pt>
                <c:pt idx="69">
                  <c:v>2</c:v>
                </c:pt>
                <c:pt idx="70">
                  <c:v>2</c:v>
                </c:pt>
                <c:pt idx="71">
                  <c:v>3</c:v>
                </c:pt>
                <c:pt idx="72">
                  <c:v>2</c:v>
                </c:pt>
                <c:pt idx="73">
                  <c:v>4</c:v>
                </c:pt>
                <c:pt idx="74">
                  <c:v>2</c:v>
                </c:pt>
                <c:pt idx="75">
                  <c:v>2</c:v>
                </c:pt>
                <c:pt idx="76">
                  <c:v>3</c:v>
                </c:pt>
                <c:pt idx="77">
                  <c:v>2</c:v>
                </c:pt>
                <c:pt idx="78">
                  <c:v>1</c:v>
                </c:pt>
                <c:pt idx="79">
                  <c:v>4</c:v>
                </c:pt>
                <c:pt idx="80">
                  <c:v>2</c:v>
                </c:pt>
                <c:pt idx="81">
                  <c:v>3</c:v>
                </c:pt>
                <c:pt idx="82">
                  <c:v>1</c:v>
                </c:pt>
                <c:pt idx="83">
                  <c:v>4</c:v>
                </c:pt>
                <c:pt idx="84">
                  <c:v>2</c:v>
                </c:pt>
                <c:pt idx="85">
                  <c:v>1</c:v>
                </c:pt>
                <c:pt idx="86">
                  <c:v>3</c:v>
                </c:pt>
                <c:pt idx="87">
                  <c:v>2</c:v>
                </c:pt>
                <c:pt idx="88">
                  <c:v>2</c:v>
                </c:pt>
                <c:pt idx="89">
                  <c:v>4</c:v>
                </c:pt>
                <c:pt idx="90">
                  <c:v>3</c:v>
                </c:pt>
                <c:pt idx="91">
                  <c:v>2</c:v>
                </c:pt>
                <c:pt idx="92">
                  <c:v>2</c:v>
                </c:pt>
                <c:pt idx="93">
                  <c:v>3</c:v>
                </c:pt>
                <c:pt idx="94">
                  <c:v>2</c:v>
                </c:pt>
                <c:pt idx="95">
                  <c:v>2</c:v>
                </c:pt>
                <c:pt idx="96">
                  <c:v>1</c:v>
                </c:pt>
                <c:pt idx="97">
                  <c:v>3</c:v>
                </c:pt>
                <c:pt idx="98">
                  <c:v>2</c:v>
                </c:pt>
                <c:pt idx="99">
                  <c:v>1</c:v>
                </c:pt>
                <c:pt idx="100">
                  <c:v>4</c:v>
                </c:pt>
                <c:pt idx="101">
                  <c:v>2</c:v>
                </c:pt>
                <c:pt idx="102">
                  <c:v>2</c:v>
                </c:pt>
                <c:pt idx="103">
                  <c:v>3</c:v>
                </c:pt>
                <c:pt idx="104">
                  <c:v>2</c:v>
                </c:pt>
                <c:pt idx="105">
                  <c:v>4</c:v>
                </c:pt>
                <c:pt idx="106">
                  <c:v>2</c:v>
                </c:pt>
                <c:pt idx="107">
                  <c:v>1</c:v>
                </c:pt>
                <c:pt idx="108">
                  <c:v>3</c:v>
                </c:pt>
                <c:pt idx="109">
                  <c:v>4</c:v>
                </c:pt>
                <c:pt idx="110">
                  <c:v>1</c:v>
                </c:pt>
                <c:pt idx="111">
                  <c:v>3</c:v>
                </c:pt>
                <c:pt idx="112">
                  <c:v>2</c:v>
                </c:pt>
                <c:pt idx="113">
                  <c:v>1</c:v>
                </c:pt>
                <c:pt idx="114">
                  <c:v>2</c:v>
                </c:pt>
                <c:pt idx="115">
                  <c:v>4</c:v>
                </c:pt>
                <c:pt idx="116">
                  <c:v>1</c:v>
                </c:pt>
                <c:pt idx="117">
                  <c:v>3</c:v>
                </c:pt>
                <c:pt idx="118">
                  <c:v>2</c:v>
                </c:pt>
                <c:pt idx="119">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20"/>
          <c:min val="0"/>
        </c:scaling>
        <c:delete val="0"/>
        <c:axPos val="b"/>
        <c:title>
          <c:tx>
            <c:rich>
              <a:bodyPr/>
              <a:lstStyle/>
              <a:p>
                <a:pPr>
                  <a:defRPr sz="1200" b="0" i="0" u="none" strike="noStrike">
                    <a:solidFill>
                      <a:srgbClr val="4A5160"/>
                    </a:solidFill>
                    <a:latin typeface="+mn-lt"/>
                  </a:defRPr>
                </a:pPr>
                <a:r>
                  <a:rPr sz="1200" b="0" i="0" u="none" strike="noStrike">
                    <a:solidFill>
                      <a:srgbClr val="4A5160"/>
                    </a:solidFill>
                    <a:latin typeface="+mn-lt"/>
                  </a:rPr>
                  <a:t>Output line</a:t>
                </a:r>
              </a:p>
            </c:rich>
          </c:tx>
          <c:layout/>
          <c:overlay val="0"/>
        </c:title>
        <c:numFmt formatCode="&quot;Thread &quot;0" sourceLinked="1"/>
        <c:majorTickMark val="none"/>
        <c:minorTickMark val="none"/>
        <c:tickLblPos val="nextTo"/>
        <c:spPr>
          <a:ln w="12700" cap="flat">
            <a:solidFill>
              <a:srgbClr val="E3E6EB"/>
            </a:solidFill>
            <a:prstDash val="solid"/>
            <a:round/>
          </a:ln>
        </c:spPr>
        <c:txPr>
          <a:bodyPr/>
          <a:lstStyle/>
          <a:p>
            <a:pPr>
              <a:defRPr sz="1200" b="0" i="0" u="none" strike="noStrike">
                <a:solidFill>
                  <a:srgbClr val="4A5160"/>
                </a:solidFill>
                <a:latin typeface="+mn-lt"/>
              </a:defRPr>
            </a:pPr>
            <a:endParaRPr lang="en-US"/>
          </a:p>
        </c:txPr>
        <c:crossAx val="2094734552"/>
        <c:crosses val="autoZero"/>
        <c:auto val="1"/>
        <c:lblAlgn val="ctr"/>
        <c:noMultiLvlLbl val="1"/>
      </c:valAx>
      <c:valAx>
        <c:axId val="2094734552"/>
        <c:scaling>
          <c:orientation val="maxMin"/>
          <c:max val="4"/>
          <c:min val="1"/>
        </c:scaling>
        <c:delete val="0"/>
        <c:axPos val="l"/>
        <c:majorGridlines>
          <c:spPr>
            <a:ln w="9525" cap="flat">
              <a:solidFill>
                <a:srgbClr val="E3E6EB"/>
              </a:solidFill>
              <a:prstDash val="solid"/>
              <a:round/>
            </a:ln>
          </c:spPr>
        </c:majorGridlines>
        <c:numFmt formatCode="&quot;Thread &quot;0" sourceLinked="0"/>
        <c:majorTickMark val="none"/>
        <c:minorTickMark val="none"/>
        <c:tickLblPos val="nextTo"/>
        <c:spPr>
          <a:ln w="12700" cap="flat">
            <a:noFill/>
            <a:prstDash val="solid"/>
            <a:round/>
          </a:ln>
        </c:spPr>
        <c:txPr>
          <a:bodyPr/>
          <a:lstStyle/>
          <a:p>
            <a:pPr>
              <a:defRPr sz="1200" b="0" i="0" u="none" strike="noStrike">
                <a:solidFill>
                  <a:srgbClr val="4A5160"/>
                </a:solidFill>
                <a:latin typeface="+mn-lt"/>
              </a:defRPr>
            </a:pPr>
            <a:endParaRPr lang="en-US"/>
          </a:p>
        </c:txPr>
        <c:crossAx val="2094734554"/>
        <c:crosses val="autoZero"/>
        <c:crossBetween val="midCat"/>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finds every prime from 1 to y using x threads, where both numbers come from a config file. We built it four ways, and the question we answer is simple: when do more threads actually make the program faster?
Short answer before we start: sometimes a lot faster, sometimes hundreds of times slower, and the difference comes down to how the work is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variants come from two independent choices.
• Rows: how the work is divided. Either each thread gets its own slice of the range 1 to y (straight division), or all threads work on one number together, splitting that number's divisors (divisibility testing).
• Columns: when output is printed. Either each prime is printed the moment it's found, with a thread id and timestamp, or everything is printed after all threads are joined.
Two choices times two options gives V1 through V4. The colors on this slide (blue, orange, green, yellow) stay the same for each variant on every chart that follows.
Key point: all four use the identical primality test, trial division up to √n. So any timing difference comes from the threading design, not from the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y = 1,000 and 4 threads, thread 1 gets 1–250, thread 2 gets 251–500, and so on. When y doesn't split evenly, the first blocks get one extra number.
What makes this design fast is that the threads share nothing while they search. Each thread has its own block, and in V2, its own result list, so the search needs no locks at all.
• V1 needs exactly one lock, for printing. Each line is fully built first, then written while holding a mutex. That's why lines from different threads can mix, but a single line is never cut in half.
• All threads wait at a start gate until every thread exists, so they begin together. At the end, the main thread joins all x threads. The run is only as fast as the slowest block, which comes back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search goes through numbers one at a time. For each number n, its candidate divisors from 2 to √n are split across the x threads. When every thread has finished its share, they all meet at a barrier, and only then does anyone move to n + 1.
Three implementation details matter:
1. Threads are created once and reused. Our first version created and joined x brand-new threads for every single number. At 16 threads and y = 200,000, that took 22 seconds. Reusing the threads with a barrier took 0.45 seconds. Creating a thread is far more expensive than syncing one.
2. Early stop. A shared atomic flag lets every thread stop as soon as any thread finds a divisor. No point testing the rest once we know n is composite.
3. The last thread to finish reports. The barrier runs a small completion step once per number, on the last thread to arrive. That step decides prime or not, prints it (V3) or records it (V4), and advances to the next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so the numbers are trustworthy.
• The machine has 8 cores with 2 hardware threads each, so 16 logical CPUs. Remember 16: it's where every curve bends.
• Thread counts double from 1 to 128, so we deliberately go past the hardware limit to see what happens.
• y goes from 10 thousand to 10 million. The divisibility variants stop at 1 million, because one run at 10 million with 128 threads would take minutes.
• Every config ran 3 to 5 times and we report the median. Repeats agreed within about 7%.
One important choice: output was redirected to a file. Printing to a terminal is so slow that it would hide the threading effects we're trying to measure. That matters for the live demo, which prints to 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talk in one slide.
Straight division with 128 threads runs 8.2 times faster than with one thread. Divisibility testing with 128 threads runs 265 times slower than with one thread.
Same machine, same primality test, same primes found. Only the division of work changed. The rest of the talk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this chart: thread count runs along the bottom, doubling each step. Run time is on the left, on a log scale, so each gridline is a multiplication, not an addition. This is y = 1 million.
• The blue and orange lines (straight division) go down as threads are added, from about 125 ms at one thread to 24 ms for V1 at 16 threads. Then they go flat.
• The green and yellow lines (divisibility testing) go up from the very first extra thread: 141 ms on one thread, about 2.3 seconds at 16, and 37 seconds at 128.
Watch what happens at 16 threads, this machine's logical CPU count. Both groups change behavior there. That's the next slide.
Key point: at one thread, all four variants take about the same time. The gap is created entirely by adding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speedup, meaning time on one thread divided by time on x threads, for y = 10 million. The gray diagonal is perfect scaling: twice the threads, twice the speed.
• V1 tracks the perfect line early, reaches 7.5× at 16 threads, and then stops. The remaining 112 threads add only 0.7× more. Once all 16 hardware threads are busy, extra threads just take turns on the same CPUs.
• Why not a full 16×? Two reasons. The 16 logical CPUs are only 8 physical cores, and pairs share execution units. And the blocks aren't equally hard, which is the next slide.
• V2 levels off lower, at 4.8×. Its search scales like V1's, but its printing happens on one thread after the join, and no number of threads can speed that part up.
Small problems are the opposite case. At y = 10,000 the whole job takes under a millisecond, so creating 128 threads costs more than the work itself: 1.6 ms versus 0.5 ms at 4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is one thread in V2, with 8 threads and y = 10 million. Orange is time spent searching; gray is time spent finished and doing nothing while waiting for the join.
Every block has the same *count* of numbers, but not the same *work*. Testing a number takes up to √n divisions, so numbers near 10 million cost more than numbers near 1. Thread 1 is done at 163 ms; thread 8 needs 398 ms; and join() can't return until thread 8 is done.
Add up the gray: 25% of all thread time is wasted waiting. At 128 threads it's 51%, partly because 128 threads take turns on 16 CPUs and some start late.
The fix would be to hand out small chunks on demand, or to interleave the numbers across threads. But the assignment specifies straight division, so this imbalance is a built-in cost of that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joining bottleneck in its most extreme form.
At one thread, testing a number (including the bookkeeping) averages 0.11 microseconds. At 16 threads it's 2.2 microseconds, and at 128 threads it's 37.5 microseconds, about 340 times the cost per number.
Three reasons:
1. The meetings. At y = 1 million, the threads meet at the barrier 999,999 times. Each meeting needs every thread to arrive and then be woken up again, which costs more than the divisions being shared.
2. The work is tiny. A number near one million has only 999 candidate divisors. Split 16 ways, that's about 62 divisions per thread, a few nanoseconds of work, followed by a synchronization.
3. The jump past 16. From 16 to 32 threads the cost per number quadruples. With more threads than CPUs, some threads aren't running when a round starts, so every round waits for the operating system to schedule them.
Key point: this scheme parallelizes something too small to be worth parallelizing.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Printing has opposite effects in the two schemes.
Straight division, left: printing immediately wins. V1 finishes in 312 ms; V2 in 538 ms. V1's threads write their lines while the other threads keep searching, so printing overlaps with useful work. V2 has to print all 664,579 primes from a single thread *after* the join, about 245 ms that no number of threads can shrink. That's 46% of V2's run.
Divisibility testing, right: printing immediately loses at low thread counts. At 4 threads, V3 takes 733 ms and V4 takes 363 ms. V3 prints inside the barrier's completion step, while every other thread is blocked waiting, so each print adds straight onto the critical path. From 16 threads up the barrier itself is so expensive that this difference disappears.
These were measured writing to a file. In the live demo, printing to a terminal, the printing costs are much larger, so these gaps get bigger.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output line from V1 with 4 threads; its height shows which thread printed it. The first 17 lines come only from thread 2, because it happened to start first. After that, the four threads take turns in no fixed pattern.
Over the full run of 9,592 primes:
• 96% of lines come from a different thread than the line before.
• 48% show a smaller prime than the line before. The output is not sorted.
• 816 lines have an *earlier* timestamp than the line above them. Each thread stamps its line *before* waiting for the output lock, so a thread that waited longer prints a line that is older.
• 0 lines are broken. Each line is built completely and then written under the mutex. Without that lock, characters from different threads could mix inside a single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lesson per learning objective:
• (a) Number of threads: threads help only when each one gets substantial, independent work. Big blocks gave 8.2×; tiny shared tasks gave a 265× slowdown. Nothing improves past the 16 logical CPUs.
• (b) Interleaving: threads printing at the same time scramble the output. A mutex keeps each line whole but does nothing for the order, to the point that timestamps can run backwards.
• (c) Joining bottlenecks: every join or barrier waits for the slowest thread. Uneven blocks wasted 25–51% of capacity, and a barrier per number cost more than the actual testing.
• (d) Division schemes: divide the data, not tiny tasks. Large independent chunks scale; splitting small jobs buys coordination, not speed.
Close with: the fastest design is the one where threads talk to each other the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chemeClr val="tx2"/>
                </a:solidFill>
              </a:rPr>
              <a:t>Threaded prime search</a:t>
            </a:r>
            <a:endParaRPr lang="en-US" sz="1100" dirty="0"/>
          </a:p>
        </p:txBody>
      </p:sp>
      <p:sp>
        <p:nvSpPr>
          <p:cNvPr id="3" name="Text 1"/>
          <p:cNvSpPr/>
          <p:nvPr>
            <p:ph idx="101" type="body" hasCustomPrompt="1"/>
          </p:nvPr>
        </p:nvSpPr>
        <p:spPr>
          <a:xfrm>
            <a:off x="548640" y="411480"/>
            <a:ext cx="11094415" cy="320040"/>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48640"/>
            <a:ext cx="11094415" cy="365760"/>
          </a:xfrm>
          <a:prstGeom prst="rect">
            <a:avLst/>
          </a:prstGeom>
          <a:noFill/>
          <a:ln/>
        </p:spPr>
        <p:txBody>
          <a:bodyPr wrap="square" rtlCol="0"/>
          <a:lstStyle>
            <a:lvl1pPr indent="0" marL="0">
              <a:buNone/>
              <a:defRPr lang="en-US" sz="1400" b="1" spc="200" kern="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2011680"/>
            <a:ext cx="11094415" cy="13716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548640" y="3566160"/>
            <a:ext cx="9601200" cy="1097280"/>
          </a:xfrm>
          <a:prstGeom prst="rect">
            <a:avLst/>
          </a:prstGeom>
          <a:noFill/>
          <a:ln/>
        </p:spPr>
        <p:txBody>
          <a:bodyPr wrap="square" rtlCol="0"/>
          <a:lstStyle>
            <a:lvl1pPr indent="0" marL="0">
              <a:buNone/>
              <a:defRPr lang="en-US" sz="2400" dirty="0">
                <a:solidFill>
                  <a:srgbClr val="C9CDD6"/>
                </a:solidFill>
              </a:defRPr>
            </a:lvl1pPr>
          </a:lstStyle>
          <a:p>
            <a:pPr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body" hasCustomPrompt="1"/>
          </p:nvPr>
        </p:nvSpPr>
        <p:spPr>
          <a:xfrm>
            <a:off x="548640" y="548640"/>
            <a:ext cx="11094415" cy="365760"/>
          </a:xfrm>
          <a:prstGeom prst="rect">
            <a:avLst/>
          </a:prstGeom>
          <a:noFill/>
          <a:ln/>
        </p:spPr>
        <p:txBody>
          <a:bodyPr wrap="square" lIns="0" tIns="0" rIns="0" bIns="0" rtlCol="0"/>
          <a:lstStyle/>
          <a:p>
            <a:pPr indent="0" marL="0">
              <a:buNone/>
            </a:pPr>
            <a:r>
              <a:rPr lang="en-US" sz="1400" b="1" spc="200" kern="0" dirty="0">
                <a:solidFill>
                  <a:schemeClr val="accent4"/>
                </a:solidFill>
              </a:rPr>
              <a:t>STDISCM · PROBLEM SET 1</a:t>
            </a:r>
            <a:endParaRPr lang="en-US" sz="1400" dirty="0"/>
          </a:p>
        </p:txBody>
      </p:sp>
      <p:sp>
        <p:nvSpPr>
          <p:cNvPr id="4" name="Text 0"/>
          <p:cNvSpPr/>
          <p:nvPr>
            <p:ph idx="101" type="title" hasCustomPrompt="1"/>
          </p:nvPr>
        </p:nvSpPr>
        <p:spPr>
          <a:xfrm>
            <a:off x="548640" y="2011680"/>
            <a:ext cx="11094415" cy="1371600"/>
          </a:xfrm>
          <a:prstGeom prst="rect">
            <a:avLst/>
          </a:prstGeom>
          <a:noFill/>
          <a:ln/>
        </p:spPr>
        <p:txBody>
          <a:bodyPr wrap="square" lIns="0" tIns="0" rIns="0" bIns="0" rtlCol="0" anchor="b"/>
          <a:lstStyle/>
          <a:p>
            <a:pPr algn="l" indent="0" marL="0">
              <a:buNone/>
            </a:pPr>
            <a:r>
              <a:rPr lang="en-US" sz="6000" b="1" dirty="0">
                <a:solidFill>
                  <a:schemeClr val="bg1"/>
                </a:solidFill>
              </a:rPr>
              <a:t>Threaded Prime Search</a:t>
            </a:r>
            <a:endParaRPr lang="en-US" sz="6000" dirty="0"/>
          </a:p>
        </p:txBody>
      </p:sp>
      <p:sp>
        <p:nvSpPr>
          <p:cNvPr id="5" name="Text 0"/>
          <p:cNvSpPr/>
          <p:nvPr>
            <p:ph idx="102" type="body" hasCustomPrompt="1"/>
          </p:nvPr>
        </p:nvSpPr>
        <p:spPr>
          <a:xfrm>
            <a:off x="548640" y="3566160"/>
            <a:ext cx="9601200" cy="1097280"/>
          </a:xfrm>
          <a:prstGeom prst="rect">
            <a:avLst/>
          </a:prstGeom>
          <a:noFill/>
          <a:ln/>
        </p:spPr>
        <p:txBody>
          <a:bodyPr wrap="square" lIns="0" tIns="0" rIns="0" bIns="0" rtlCol="0" anchor="t"/>
          <a:lstStyle/>
          <a:p>
            <a:pPr indent="0" marL="0">
              <a:buNone/>
            </a:pPr>
            <a:r>
              <a:rPr lang="en-US" sz="2400" dirty="0">
                <a:solidFill>
                  <a:srgbClr val="C9CDD6"/>
                </a:solidFill>
              </a:rPr>
              <a:t>Four ways to split the work and print the results. When do more threads actually help?</a:t>
            </a:r>
            <a:endParaRPr lang="en-US" sz="2400" dirty="0"/>
          </a:p>
        </p:txBody>
      </p:sp>
      <p:sp>
        <p:nvSpPr>
          <p:cNvPr id="6" name="byline"/>
          <p:cNvSpPr txBox="1"/>
          <p:nvPr/>
        </p:nvSpPr>
        <p:spPr>
          <a:xfrm>
            <a:off x="548640" y="5852160"/>
            <a:ext cx="5486400" cy="365760"/>
          </a:xfrm>
          <a:prstGeom prst="rect">
            <a:avLst/>
          </a:prstGeom>
          <a:noFill/>
          <a:ln/>
        </p:spPr>
        <p:txBody>
          <a:bodyPr wrap="square" lIns="0" tIns="0" rIns="0" bIns="0" rtlCol="0" anchor="t"/>
          <a:lstStyle/>
          <a:p>
            <a:pPr indent="0" marL="0">
              <a:buNone/>
            </a:pPr>
            <a:r>
              <a:rPr lang="en-US" sz="1600" dirty="0">
                <a:solidFill>
                  <a:srgbClr val="C9CDD6"/>
                </a:solidFill>
              </a:rPr>
              <a:t>[Name] · [Section]</a:t>
            </a:r>
            <a:endParaRPr lang="en-US" sz="1600" dirty="0"/>
          </a:p>
        </p:txBody>
      </p:sp>
      <p:sp>
        <p:nvSpPr>
          <p:cNvPr id="7" name="variant-dot-1"/>
          <p:cNvSpPr/>
          <p:nvPr/>
        </p:nvSpPr>
        <p:spPr>
          <a:xfrm>
            <a:off x="10134295" y="5925312"/>
            <a:ext cx="256032" cy="256032"/>
          </a:xfrm>
          <a:prstGeom prst="ellipse">
            <a:avLst/>
          </a:prstGeom>
          <a:solidFill>
            <a:schemeClr val="accent1"/>
          </a:solidFill>
          <a:ln w="12700">
            <a:solidFill>
              <a:schemeClr val="accent1"/>
            </a:solidFill>
            <a:prstDash val="solid"/>
          </a:ln>
        </p:spPr>
      </p:sp>
      <p:sp>
        <p:nvSpPr>
          <p:cNvPr id="8" name="variant-dot-2"/>
          <p:cNvSpPr/>
          <p:nvPr/>
        </p:nvSpPr>
        <p:spPr>
          <a:xfrm>
            <a:off x="10545775" y="5925312"/>
            <a:ext cx="256032" cy="256032"/>
          </a:xfrm>
          <a:prstGeom prst="ellipse">
            <a:avLst/>
          </a:prstGeom>
          <a:solidFill>
            <a:schemeClr val="accent2"/>
          </a:solidFill>
          <a:ln w="12700">
            <a:solidFill>
              <a:schemeClr val="accent2"/>
            </a:solidFill>
            <a:prstDash val="solid"/>
          </a:ln>
        </p:spPr>
      </p:sp>
      <p:sp>
        <p:nvSpPr>
          <p:cNvPr id="9" name="variant-dot-3"/>
          <p:cNvSpPr/>
          <p:nvPr/>
        </p:nvSpPr>
        <p:spPr>
          <a:xfrm>
            <a:off x="10957255" y="5925312"/>
            <a:ext cx="256032" cy="256032"/>
          </a:xfrm>
          <a:prstGeom prst="ellipse">
            <a:avLst/>
          </a:prstGeom>
          <a:solidFill>
            <a:schemeClr val="accent3"/>
          </a:solidFill>
          <a:ln w="12700">
            <a:solidFill>
              <a:schemeClr val="accent3"/>
            </a:solidFill>
            <a:prstDash val="solid"/>
          </a:ln>
        </p:spPr>
      </p:sp>
      <p:sp>
        <p:nvSpPr>
          <p:cNvPr id="10" name="variant-dot-4"/>
          <p:cNvSpPr/>
          <p:nvPr/>
        </p:nvSpPr>
        <p:spPr>
          <a:xfrm>
            <a:off x="11368735" y="5925312"/>
            <a:ext cx="256032" cy="256032"/>
          </a:xfrm>
          <a:prstGeom prst="ellipse">
            <a:avLst/>
          </a:prstGeom>
          <a:solidFill>
            <a:schemeClr val="accent4"/>
          </a:solidFill>
          <a:ln w="12700">
            <a:solidFill>
              <a:schemeClr val="accent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THE TASK</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Prime search with x threads, four ways</a:t>
            </a:r>
            <a:endParaRPr lang="en-US" sz="3200" dirty="0"/>
          </a:p>
        </p:txBody>
      </p:sp>
      <p:sp>
        <p:nvSpPr>
          <p:cNvPr id="5" name="Text 2"/>
          <p:cNvSpPr txBox="1"/>
          <p:nvPr/>
        </p:nvSpPr>
        <p:spPr>
          <a:xfrm>
            <a:off x="3657600" y="1691640"/>
            <a:ext cx="3931920" cy="365760"/>
          </a:xfrm>
          <a:prstGeom prst="rect">
            <a:avLst/>
          </a:prstGeom>
          <a:noFill/>
          <a:ln/>
        </p:spPr>
        <p:txBody>
          <a:bodyPr wrap="square" lIns="0" tIns="0" rIns="0" bIns="0" rtlCol="0" anchor="t"/>
          <a:lstStyle/>
          <a:p>
            <a:pPr indent="0" marL="0">
              <a:buNone/>
            </a:pPr>
            <a:r>
              <a:rPr lang="en-US" sz="1600" b="1" dirty="0">
                <a:solidFill>
                  <a:schemeClr val="tx2"/>
                </a:solidFill>
              </a:rPr>
              <a:t>Print immediately</a:t>
            </a:r>
            <a:endParaRPr lang="en-US" sz="1600" dirty="0"/>
          </a:p>
        </p:txBody>
      </p:sp>
      <p:sp>
        <p:nvSpPr>
          <p:cNvPr id="6" name="Text 3"/>
          <p:cNvSpPr txBox="1"/>
          <p:nvPr/>
        </p:nvSpPr>
        <p:spPr>
          <a:xfrm>
            <a:off x="7708392" y="1691640"/>
            <a:ext cx="3931920" cy="365760"/>
          </a:xfrm>
          <a:prstGeom prst="rect">
            <a:avLst/>
          </a:prstGeom>
          <a:noFill/>
          <a:ln/>
        </p:spPr>
        <p:txBody>
          <a:bodyPr wrap="square" lIns="0" tIns="0" rIns="0" bIns="0" rtlCol="0" anchor="t"/>
          <a:lstStyle/>
          <a:p>
            <a:pPr indent="0" marL="0">
              <a:buNone/>
            </a:pPr>
            <a:r>
              <a:rPr lang="en-US" sz="1600" b="1" dirty="0">
                <a:solidFill>
                  <a:schemeClr val="tx2"/>
                </a:solidFill>
              </a:rPr>
              <a:t>Print after all threads join</a:t>
            </a:r>
            <a:endParaRPr lang="en-US" sz="1600" dirty="0"/>
          </a:p>
        </p:txBody>
      </p:sp>
      <p:sp>
        <p:nvSpPr>
          <p:cNvPr id="7" name="Text 4"/>
          <p:cNvSpPr txBox="1"/>
          <p:nvPr/>
        </p:nvSpPr>
        <p:spPr>
          <a:xfrm>
            <a:off x="548640" y="2194560"/>
            <a:ext cx="2926080" cy="1417320"/>
          </a:xfrm>
          <a:prstGeom prst="rect">
            <a:avLst/>
          </a:prstGeom>
          <a:noFill/>
          <a:ln/>
        </p:spPr>
        <p:txBody>
          <a:bodyPr wrap="square" lIns="0" tIns="0" rIns="0" bIns="0" rtlCol="0" anchor="ctr"/>
          <a:lstStyle/>
          <a:p>
            <a:pPr indent="0" marL="0">
              <a:spcAft>
                <a:spcPts val="400"/>
              </a:spcAft>
              <a:buNone/>
            </a:pPr>
            <a:r>
              <a:rPr lang="en-US" sz="2000" b="1" dirty="0">
                <a:solidFill>
                  <a:schemeClr val="tx1"/>
                </a:solidFill>
              </a:rPr>
              <a:t>Straight division</a:t>
            </a:r>
            <a:endParaRPr lang="en-US" sz="2000" dirty="0"/>
          </a:p>
          <a:p>
            <a:pPr indent="0" marL="0">
              <a:spcAft>
                <a:spcPts val="400"/>
              </a:spcAft>
              <a:buNone/>
            </a:pPr>
            <a:r>
              <a:rPr lang="en-US" sz="1400" dirty="0">
                <a:solidFill>
                  <a:schemeClr val="tx2"/>
                </a:solidFill>
              </a:rPr>
              <a:t>Range 1–y cut into x blocks</a:t>
            </a:r>
            <a:endParaRPr lang="en-US" sz="2000" dirty="0"/>
          </a:p>
        </p:txBody>
      </p:sp>
      <p:sp>
        <p:nvSpPr>
          <p:cNvPr id="8" name="Text 5"/>
          <p:cNvSpPr txBox="1"/>
          <p:nvPr/>
        </p:nvSpPr>
        <p:spPr>
          <a:xfrm>
            <a:off x="548640" y="3794760"/>
            <a:ext cx="2926080" cy="1417320"/>
          </a:xfrm>
          <a:prstGeom prst="rect">
            <a:avLst/>
          </a:prstGeom>
          <a:noFill/>
          <a:ln/>
        </p:spPr>
        <p:txBody>
          <a:bodyPr wrap="square" lIns="0" tIns="0" rIns="0" bIns="0" rtlCol="0" anchor="ctr"/>
          <a:lstStyle/>
          <a:p>
            <a:pPr indent="0" marL="0">
              <a:spcAft>
                <a:spcPts val="400"/>
              </a:spcAft>
              <a:buNone/>
            </a:pPr>
            <a:r>
              <a:rPr lang="en-US" sz="2000" b="1" dirty="0">
                <a:solidFill>
                  <a:schemeClr val="tx1"/>
                </a:solidFill>
              </a:rPr>
              <a:t>Divisibility testing</a:t>
            </a:r>
            <a:endParaRPr lang="en-US" sz="2000" dirty="0"/>
          </a:p>
          <a:p>
            <a:pPr indent="0" marL="0">
              <a:spcAft>
                <a:spcPts val="400"/>
              </a:spcAft>
              <a:buNone/>
            </a:pPr>
            <a:r>
              <a:rPr lang="en-US" sz="1400" dirty="0">
                <a:solidFill>
                  <a:schemeClr val="tx2"/>
                </a:solidFill>
              </a:rPr>
              <a:t>Numbers one by one; threads split each number's divisors</a:t>
            </a:r>
            <a:endParaRPr lang="en-US" sz="2000" dirty="0"/>
          </a:p>
        </p:txBody>
      </p:sp>
      <p:sp>
        <p:nvSpPr>
          <p:cNvPr id="9" name="variant-card-1"/>
          <p:cNvSpPr/>
          <p:nvPr/>
        </p:nvSpPr>
        <p:spPr>
          <a:xfrm>
            <a:off x="3657600" y="2194560"/>
            <a:ext cx="3931920" cy="1417320"/>
          </a:xfrm>
          <a:prstGeom prst="roundRect">
            <a:avLst>
              <a:gd name="adj" fmla="val 7742"/>
            </a:avLst>
          </a:prstGeom>
          <a:solidFill>
            <a:schemeClr val="bg2"/>
          </a:solidFill>
          <a:ln w="12700">
            <a:solidFill>
              <a:schemeClr val="bg2"/>
            </a:solidFill>
            <a:prstDash val="solid"/>
          </a:ln>
        </p:spPr>
      </p:sp>
      <p:sp>
        <p:nvSpPr>
          <p:cNvPr id="10" name="variant-dot-1"/>
          <p:cNvSpPr/>
          <p:nvPr/>
        </p:nvSpPr>
        <p:spPr>
          <a:xfrm>
            <a:off x="3931920" y="2487168"/>
            <a:ext cx="237744" cy="237744"/>
          </a:xfrm>
          <a:prstGeom prst="ellipse">
            <a:avLst/>
          </a:prstGeom>
          <a:solidFill>
            <a:schemeClr val="accent1"/>
          </a:solidFill>
          <a:ln w="12700">
            <a:solidFill>
              <a:schemeClr val="accent1"/>
            </a:solidFill>
            <a:prstDash val="solid"/>
          </a:ln>
        </p:spPr>
      </p:sp>
      <p:sp>
        <p:nvSpPr>
          <p:cNvPr id="11" name="Text 8"/>
          <p:cNvSpPr txBox="1"/>
          <p:nvPr/>
        </p:nvSpPr>
        <p:spPr>
          <a:xfrm>
            <a:off x="4297680" y="2395728"/>
            <a:ext cx="914400" cy="411480"/>
          </a:xfrm>
          <a:prstGeom prst="rect">
            <a:avLst/>
          </a:prstGeom>
          <a:noFill/>
          <a:ln/>
        </p:spPr>
        <p:txBody>
          <a:bodyPr wrap="square" lIns="0" tIns="0" rIns="0" bIns="0" rtlCol="0" anchor="ctr"/>
          <a:lstStyle/>
          <a:p>
            <a:pPr indent="0" marL="0">
              <a:buNone/>
            </a:pPr>
            <a:r>
              <a:rPr lang="en-US" sz="2000" b="1" dirty="0">
                <a:solidFill>
                  <a:schemeClr val="tx1"/>
                </a:solidFill>
              </a:rPr>
              <a:t>V1</a:t>
            </a:r>
            <a:endParaRPr lang="en-US" sz="2000" dirty="0"/>
          </a:p>
        </p:txBody>
      </p:sp>
      <p:sp>
        <p:nvSpPr>
          <p:cNvPr id="12" name="Text 9"/>
          <p:cNvSpPr txBox="1"/>
          <p:nvPr/>
        </p:nvSpPr>
        <p:spPr>
          <a:xfrm>
            <a:off x="3931920" y="2880360"/>
            <a:ext cx="3383280" cy="640080"/>
          </a:xfrm>
          <a:prstGeom prst="rect">
            <a:avLst/>
          </a:prstGeom>
          <a:noFill/>
          <a:ln/>
        </p:spPr>
        <p:txBody>
          <a:bodyPr wrap="square" lIns="0" tIns="0" rIns="0" bIns="0" rtlCol="0" anchor="t"/>
          <a:lstStyle/>
          <a:p>
            <a:pPr indent="0" marL="0">
              <a:buNone/>
            </a:pPr>
            <a:r>
              <a:rPr lang="en-US" sz="1500" dirty="0">
                <a:solidFill>
                  <a:schemeClr val="tx2"/>
                </a:solidFill>
              </a:rPr>
              <a:t>Each thread prints a prime the moment it finds one</a:t>
            </a:r>
            <a:endParaRPr lang="en-US" sz="1500" dirty="0"/>
          </a:p>
        </p:txBody>
      </p:sp>
      <p:sp>
        <p:nvSpPr>
          <p:cNvPr id="13" name="variant-card-2"/>
          <p:cNvSpPr/>
          <p:nvPr/>
        </p:nvSpPr>
        <p:spPr>
          <a:xfrm>
            <a:off x="7708392" y="2194560"/>
            <a:ext cx="3931920" cy="1417320"/>
          </a:xfrm>
          <a:prstGeom prst="roundRect">
            <a:avLst>
              <a:gd name="adj" fmla="val 7742"/>
            </a:avLst>
          </a:prstGeom>
          <a:solidFill>
            <a:schemeClr val="bg2"/>
          </a:solidFill>
          <a:ln w="12700">
            <a:solidFill>
              <a:schemeClr val="bg2"/>
            </a:solidFill>
            <a:prstDash val="solid"/>
          </a:ln>
        </p:spPr>
      </p:sp>
      <p:sp>
        <p:nvSpPr>
          <p:cNvPr id="14" name="variant-dot-2"/>
          <p:cNvSpPr/>
          <p:nvPr/>
        </p:nvSpPr>
        <p:spPr>
          <a:xfrm>
            <a:off x="7982712" y="2487168"/>
            <a:ext cx="237744" cy="237744"/>
          </a:xfrm>
          <a:prstGeom prst="ellipse">
            <a:avLst/>
          </a:prstGeom>
          <a:solidFill>
            <a:schemeClr val="accent2"/>
          </a:solidFill>
          <a:ln w="12700">
            <a:solidFill>
              <a:schemeClr val="accent2"/>
            </a:solidFill>
            <a:prstDash val="solid"/>
          </a:ln>
        </p:spPr>
      </p:sp>
      <p:sp>
        <p:nvSpPr>
          <p:cNvPr id="15" name="Text 12"/>
          <p:cNvSpPr txBox="1"/>
          <p:nvPr/>
        </p:nvSpPr>
        <p:spPr>
          <a:xfrm>
            <a:off x="8348472" y="2395728"/>
            <a:ext cx="914400" cy="411480"/>
          </a:xfrm>
          <a:prstGeom prst="rect">
            <a:avLst/>
          </a:prstGeom>
          <a:noFill/>
          <a:ln/>
        </p:spPr>
        <p:txBody>
          <a:bodyPr wrap="square" lIns="0" tIns="0" rIns="0" bIns="0" rtlCol="0" anchor="ctr"/>
          <a:lstStyle/>
          <a:p>
            <a:pPr indent="0" marL="0">
              <a:buNone/>
            </a:pPr>
            <a:r>
              <a:rPr lang="en-US" sz="2000" b="1" dirty="0">
                <a:solidFill>
                  <a:schemeClr val="tx1"/>
                </a:solidFill>
              </a:rPr>
              <a:t>V2</a:t>
            </a:r>
            <a:endParaRPr lang="en-US" sz="2000" dirty="0"/>
          </a:p>
        </p:txBody>
      </p:sp>
      <p:sp>
        <p:nvSpPr>
          <p:cNvPr id="16" name="Text 13"/>
          <p:cNvSpPr txBox="1"/>
          <p:nvPr/>
        </p:nvSpPr>
        <p:spPr>
          <a:xfrm>
            <a:off x="7982712" y="2880360"/>
            <a:ext cx="3383280" cy="640080"/>
          </a:xfrm>
          <a:prstGeom prst="rect">
            <a:avLst/>
          </a:prstGeom>
          <a:noFill/>
          <a:ln/>
        </p:spPr>
        <p:txBody>
          <a:bodyPr wrap="square" lIns="0" tIns="0" rIns="0" bIns="0" rtlCol="0" anchor="t"/>
          <a:lstStyle/>
          <a:p>
            <a:pPr indent="0" marL="0">
              <a:buNone/>
            </a:pPr>
            <a:r>
              <a:rPr lang="en-US" sz="1500" dirty="0">
                <a:solidFill>
                  <a:schemeClr val="tx2"/>
                </a:solidFill>
              </a:rPr>
              <a:t>Threads fill private lists; the main thread prints them all</a:t>
            </a:r>
            <a:endParaRPr lang="en-US" sz="1500" dirty="0"/>
          </a:p>
        </p:txBody>
      </p:sp>
      <p:sp>
        <p:nvSpPr>
          <p:cNvPr id="17" name="variant-card-3"/>
          <p:cNvSpPr/>
          <p:nvPr/>
        </p:nvSpPr>
        <p:spPr>
          <a:xfrm>
            <a:off x="3657600" y="3794760"/>
            <a:ext cx="3931920" cy="1417320"/>
          </a:xfrm>
          <a:prstGeom prst="roundRect">
            <a:avLst>
              <a:gd name="adj" fmla="val 7742"/>
            </a:avLst>
          </a:prstGeom>
          <a:solidFill>
            <a:schemeClr val="bg2"/>
          </a:solidFill>
          <a:ln w="12700">
            <a:solidFill>
              <a:schemeClr val="bg2"/>
            </a:solidFill>
            <a:prstDash val="solid"/>
          </a:ln>
        </p:spPr>
      </p:sp>
      <p:sp>
        <p:nvSpPr>
          <p:cNvPr id="18" name="variant-dot-3"/>
          <p:cNvSpPr/>
          <p:nvPr/>
        </p:nvSpPr>
        <p:spPr>
          <a:xfrm>
            <a:off x="3931920" y="4087368"/>
            <a:ext cx="237744" cy="237744"/>
          </a:xfrm>
          <a:prstGeom prst="ellipse">
            <a:avLst/>
          </a:prstGeom>
          <a:solidFill>
            <a:schemeClr val="accent3"/>
          </a:solidFill>
          <a:ln w="12700">
            <a:solidFill>
              <a:schemeClr val="accent3"/>
            </a:solidFill>
            <a:prstDash val="solid"/>
          </a:ln>
        </p:spPr>
      </p:sp>
      <p:sp>
        <p:nvSpPr>
          <p:cNvPr id="19" name="Text 16"/>
          <p:cNvSpPr txBox="1"/>
          <p:nvPr/>
        </p:nvSpPr>
        <p:spPr>
          <a:xfrm>
            <a:off x="4297680" y="3995928"/>
            <a:ext cx="914400" cy="411480"/>
          </a:xfrm>
          <a:prstGeom prst="rect">
            <a:avLst/>
          </a:prstGeom>
          <a:noFill/>
          <a:ln/>
        </p:spPr>
        <p:txBody>
          <a:bodyPr wrap="square" lIns="0" tIns="0" rIns="0" bIns="0" rtlCol="0" anchor="ctr"/>
          <a:lstStyle/>
          <a:p>
            <a:pPr indent="0" marL="0">
              <a:buNone/>
            </a:pPr>
            <a:r>
              <a:rPr lang="en-US" sz="2000" b="1" dirty="0">
                <a:solidFill>
                  <a:schemeClr val="tx1"/>
                </a:solidFill>
              </a:rPr>
              <a:t>V3</a:t>
            </a:r>
            <a:endParaRPr lang="en-US" sz="2000" dirty="0"/>
          </a:p>
        </p:txBody>
      </p:sp>
      <p:sp>
        <p:nvSpPr>
          <p:cNvPr id="20" name="Text 17"/>
          <p:cNvSpPr txBox="1"/>
          <p:nvPr/>
        </p:nvSpPr>
        <p:spPr>
          <a:xfrm>
            <a:off x="3931920" y="4480560"/>
            <a:ext cx="3383280" cy="640080"/>
          </a:xfrm>
          <a:prstGeom prst="rect">
            <a:avLst/>
          </a:prstGeom>
          <a:noFill/>
          <a:ln/>
        </p:spPr>
        <p:txBody>
          <a:bodyPr wrap="square" lIns="0" tIns="0" rIns="0" bIns="0" rtlCol="0" anchor="t"/>
          <a:lstStyle/>
          <a:p>
            <a:pPr indent="0" marL="0">
              <a:buNone/>
            </a:pPr>
            <a:r>
              <a:rPr lang="en-US" sz="1500" dirty="0">
                <a:solidFill>
                  <a:schemeClr val="tx2"/>
                </a:solidFill>
              </a:rPr>
              <a:t>The last thread to finish a number prints it if prime</a:t>
            </a:r>
            <a:endParaRPr lang="en-US" sz="1500" dirty="0"/>
          </a:p>
        </p:txBody>
      </p:sp>
      <p:sp>
        <p:nvSpPr>
          <p:cNvPr id="21" name="variant-card-4"/>
          <p:cNvSpPr/>
          <p:nvPr/>
        </p:nvSpPr>
        <p:spPr>
          <a:xfrm>
            <a:off x="7708392" y="3794760"/>
            <a:ext cx="3931920" cy="1417320"/>
          </a:xfrm>
          <a:prstGeom prst="roundRect">
            <a:avLst>
              <a:gd name="adj" fmla="val 7742"/>
            </a:avLst>
          </a:prstGeom>
          <a:solidFill>
            <a:schemeClr val="bg2"/>
          </a:solidFill>
          <a:ln w="12700">
            <a:solidFill>
              <a:schemeClr val="bg2"/>
            </a:solidFill>
            <a:prstDash val="solid"/>
          </a:ln>
        </p:spPr>
      </p:sp>
      <p:sp>
        <p:nvSpPr>
          <p:cNvPr id="22" name="variant-dot-4"/>
          <p:cNvSpPr/>
          <p:nvPr/>
        </p:nvSpPr>
        <p:spPr>
          <a:xfrm>
            <a:off x="7982712" y="4087368"/>
            <a:ext cx="237744" cy="237744"/>
          </a:xfrm>
          <a:prstGeom prst="ellipse">
            <a:avLst/>
          </a:prstGeom>
          <a:solidFill>
            <a:schemeClr val="accent4"/>
          </a:solidFill>
          <a:ln w="12700">
            <a:solidFill>
              <a:schemeClr val="accent4"/>
            </a:solidFill>
            <a:prstDash val="solid"/>
          </a:ln>
        </p:spPr>
      </p:sp>
      <p:sp>
        <p:nvSpPr>
          <p:cNvPr id="23" name="Text 20"/>
          <p:cNvSpPr txBox="1"/>
          <p:nvPr/>
        </p:nvSpPr>
        <p:spPr>
          <a:xfrm>
            <a:off x="8348472" y="3995928"/>
            <a:ext cx="914400" cy="411480"/>
          </a:xfrm>
          <a:prstGeom prst="rect">
            <a:avLst/>
          </a:prstGeom>
          <a:noFill/>
          <a:ln/>
        </p:spPr>
        <p:txBody>
          <a:bodyPr wrap="square" lIns="0" tIns="0" rIns="0" bIns="0" rtlCol="0" anchor="ctr"/>
          <a:lstStyle/>
          <a:p>
            <a:pPr indent="0" marL="0">
              <a:buNone/>
            </a:pPr>
            <a:r>
              <a:rPr lang="en-US" sz="2000" b="1" dirty="0">
                <a:solidFill>
                  <a:schemeClr val="tx1"/>
                </a:solidFill>
              </a:rPr>
              <a:t>V4</a:t>
            </a:r>
            <a:endParaRPr lang="en-US" sz="2000" dirty="0"/>
          </a:p>
        </p:txBody>
      </p:sp>
      <p:sp>
        <p:nvSpPr>
          <p:cNvPr id="24" name="Text 21"/>
          <p:cNvSpPr txBox="1"/>
          <p:nvPr/>
        </p:nvSpPr>
        <p:spPr>
          <a:xfrm>
            <a:off x="7982712" y="4480560"/>
            <a:ext cx="3383280" cy="640080"/>
          </a:xfrm>
          <a:prstGeom prst="rect">
            <a:avLst/>
          </a:prstGeom>
          <a:noFill/>
          <a:ln/>
        </p:spPr>
        <p:txBody>
          <a:bodyPr wrap="square" lIns="0" tIns="0" rIns="0" bIns="0" rtlCol="0" anchor="t"/>
          <a:lstStyle/>
          <a:p>
            <a:pPr indent="0" marL="0">
              <a:buNone/>
            </a:pPr>
            <a:r>
              <a:rPr lang="en-US" sz="1500" dirty="0">
                <a:solidFill>
                  <a:schemeClr val="tx2"/>
                </a:solidFill>
              </a:rPr>
              <a:t>Verdicts are recorded; the main thread prints after the join</a:t>
            </a:r>
            <a:endParaRPr lang="en-US" sz="1500" dirty="0"/>
          </a:p>
        </p:txBody>
      </p:sp>
      <p:sp>
        <p:nvSpPr>
          <p:cNvPr id="25" name="Text 22"/>
          <p:cNvSpPr txBox="1"/>
          <p:nvPr/>
        </p:nvSpPr>
        <p:spPr>
          <a:xfrm>
            <a:off x="548640" y="5577840"/>
            <a:ext cx="11094415" cy="411480"/>
          </a:xfrm>
          <a:prstGeom prst="rect">
            <a:avLst/>
          </a:prstGeom>
          <a:noFill/>
          <a:ln/>
        </p:spPr>
        <p:txBody>
          <a:bodyPr wrap="square" lIns="0" tIns="0" rIns="0" bIns="0" rtlCol="0" anchor="t"/>
          <a:lstStyle/>
          <a:p>
            <a:pPr indent="0" marL="0">
              <a:buNone/>
            </a:pPr>
            <a:r>
              <a:rPr lang="en-US" sz="1600" dirty="0">
                <a:solidFill>
                  <a:schemeClr val="tx2"/>
                </a:solidFill>
              </a:rPr>
              <a:t>Same primality test in all four: time differences come only from the split and the printing.</a:t>
            </a:r>
            <a:endParaRPr lang="en-US" sz="16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IMPLEMENTATION · V1 AND V2</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Straight division: independent blocks, one join</a:t>
            </a:r>
            <a:endParaRPr lang="en-US" sz="3200" dirty="0"/>
          </a:p>
        </p:txBody>
      </p:sp>
      <p:sp>
        <p:nvSpPr>
          <p:cNvPr id="5" name="block-1"/>
          <p:cNvSpPr/>
          <p:nvPr/>
        </p:nvSpPr>
        <p:spPr>
          <a:xfrm>
            <a:off x="548640" y="1783080"/>
            <a:ext cx="2732456" cy="868680"/>
          </a:xfrm>
          <a:prstGeom prst="rect">
            <a:avLst/>
          </a:prstGeom>
          <a:solidFill>
            <a:schemeClr val="accent5"/>
          </a:solidFill>
          <a:ln w="12700">
            <a:solidFill>
              <a:schemeClr val="accent5"/>
            </a:solidFill>
            <a:prstDash val="solid"/>
          </a:ln>
        </p:spPr>
      </p:sp>
      <p:sp>
        <p:nvSpPr>
          <p:cNvPr id="6" name="Text 3"/>
          <p:cNvSpPr txBox="1"/>
          <p:nvPr/>
        </p:nvSpPr>
        <p:spPr>
          <a:xfrm>
            <a:off x="731520" y="1783080"/>
            <a:ext cx="2366696" cy="868680"/>
          </a:xfrm>
          <a:prstGeom prst="rect">
            <a:avLst/>
          </a:prstGeom>
          <a:noFill/>
          <a:ln/>
        </p:spPr>
        <p:txBody>
          <a:bodyPr wrap="square" lIns="0" tIns="0" rIns="0" bIns="0" rtlCol="0" anchor="ctr"/>
          <a:lstStyle/>
          <a:p>
            <a:pPr indent="0" marL="0">
              <a:buNone/>
            </a:pPr>
            <a:r>
              <a:rPr lang="en-US" sz="1800" b="1" dirty="0">
                <a:solidFill>
                  <a:schemeClr val="bg1"/>
                </a:solidFill>
              </a:rPr>
              <a:t>Thread 1</a:t>
            </a:r>
            <a:endParaRPr lang="en-US" sz="1800" dirty="0"/>
          </a:p>
          <a:p>
            <a:pPr indent="0" marL="0">
              <a:buNone/>
            </a:pPr>
            <a:r>
              <a:rPr lang="en-US" sz="1500" dirty="0">
                <a:solidFill>
                  <a:schemeClr val="bg1"/>
                </a:solidFill>
              </a:rPr>
              <a:t>1 – 250</a:t>
            </a:r>
            <a:endParaRPr lang="en-US" sz="1800" dirty="0"/>
          </a:p>
        </p:txBody>
      </p:sp>
      <p:sp>
        <p:nvSpPr>
          <p:cNvPr id="7" name="block-2"/>
          <p:cNvSpPr/>
          <p:nvPr/>
        </p:nvSpPr>
        <p:spPr>
          <a:xfrm>
            <a:off x="3335960" y="1783080"/>
            <a:ext cx="2732456" cy="868680"/>
          </a:xfrm>
          <a:prstGeom prst="rect">
            <a:avLst/>
          </a:prstGeom>
          <a:solidFill>
            <a:schemeClr val="accent5"/>
          </a:solidFill>
          <a:ln w="12700">
            <a:solidFill>
              <a:schemeClr val="accent5"/>
            </a:solidFill>
            <a:prstDash val="solid"/>
          </a:ln>
        </p:spPr>
      </p:sp>
      <p:sp>
        <p:nvSpPr>
          <p:cNvPr id="8" name="Text 5"/>
          <p:cNvSpPr txBox="1"/>
          <p:nvPr/>
        </p:nvSpPr>
        <p:spPr>
          <a:xfrm>
            <a:off x="3518840" y="1783080"/>
            <a:ext cx="2366696" cy="868680"/>
          </a:xfrm>
          <a:prstGeom prst="rect">
            <a:avLst/>
          </a:prstGeom>
          <a:noFill/>
          <a:ln/>
        </p:spPr>
        <p:txBody>
          <a:bodyPr wrap="square" lIns="0" tIns="0" rIns="0" bIns="0" rtlCol="0" anchor="ctr"/>
          <a:lstStyle/>
          <a:p>
            <a:pPr indent="0" marL="0">
              <a:buNone/>
            </a:pPr>
            <a:r>
              <a:rPr lang="en-US" sz="1800" b="1" dirty="0">
                <a:solidFill>
                  <a:schemeClr val="bg1"/>
                </a:solidFill>
              </a:rPr>
              <a:t>Thread 2</a:t>
            </a:r>
            <a:endParaRPr lang="en-US" sz="1800" dirty="0"/>
          </a:p>
          <a:p>
            <a:pPr indent="0" marL="0">
              <a:buNone/>
            </a:pPr>
            <a:r>
              <a:rPr lang="en-US" sz="1500" dirty="0">
                <a:solidFill>
                  <a:schemeClr val="bg1"/>
                </a:solidFill>
              </a:rPr>
              <a:t>251 – 500</a:t>
            </a:r>
            <a:endParaRPr lang="en-US" sz="1800" dirty="0"/>
          </a:p>
        </p:txBody>
      </p:sp>
      <p:sp>
        <p:nvSpPr>
          <p:cNvPr id="9" name="block-3"/>
          <p:cNvSpPr/>
          <p:nvPr/>
        </p:nvSpPr>
        <p:spPr>
          <a:xfrm>
            <a:off x="6123280" y="1783080"/>
            <a:ext cx="2732456" cy="868680"/>
          </a:xfrm>
          <a:prstGeom prst="rect">
            <a:avLst/>
          </a:prstGeom>
          <a:solidFill>
            <a:schemeClr val="accent5"/>
          </a:solidFill>
          <a:ln w="12700">
            <a:solidFill>
              <a:schemeClr val="accent5"/>
            </a:solidFill>
            <a:prstDash val="solid"/>
          </a:ln>
        </p:spPr>
      </p:sp>
      <p:sp>
        <p:nvSpPr>
          <p:cNvPr id="10" name="Text 7"/>
          <p:cNvSpPr txBox="1"/>
          <p:nvPr/>
        </p:nvSpPr>
        <p:spPr>
          <a:xfrm>
            <a:off x="6306160" y="1783080"/>
            <a:ext cx="2366696" cy="868680"/>
          </a:xfrm>
          <a:prstGeom prst="rect">
            <a:avLst/>
          </a:prstGeom>
          <a:noFill/>
          <a:ln/>
        </p:spPr>
        <p:txBody>
          <a:bodyPr wrap="square" lIns="0" tIns="0" rIns="0" bIns="0" rtlCol="0" anchor="ctr"/>
          <a:lstStyle/>
          <a:p>
            <a:pPr indent="0" marL="0">
              <a:buNone/>
            </a:pPr>
            <a:r>
              <a:rPr lang="en-US" sz="1800" b="1" dirty="0">
                <a:solidFill>
                  <a:schemeClr val="bg1"/>
                </a:solidFill>
              </a:rPr>
              <a:t>Thread 3</a:t>
            </a:r>
            <a:endParaRPr lang="en-US" sz="1800" dirty="0"/>
          </a:p>
          <a:p>
            <a:pPr indent="0" marL="0">
              <a:buNone/>
            </a:pPr>
            <a:r>
              <a:rPr lang="en-US" sz="1500" dirty="0">
                <a:solidFill>
                  <a:schemeClr val="bg1"/>
                </a:solidFill>
              </a:rPr>
              <a:t>501 – 750</a:t>
            </a:r>
            <a:endParaRPr lang="en-US" sz="1800" dirty="0"/>
          </a:p>
        </p:txBody>
      </p:sp>
      <p:sp>
        <p:nvSpPr>
          <p:cNvPr id="11" name="block-4"/>
          <p:cNvSpPr/>
          <p:nvPr/>
        </p:nvSpPr>
        <p:spPr>
          <a:xfrm>
            <a:off x="8910599" y="1783080"/>
            <a:ext cx="2732456" cy="868680"/>
          </a:xfrm>
          <a:prstGeom prst="rect">
            <a:avLst/>
          </a:prstGeom>
          <a:solidFill>
            <a:schemeClr val="accent5"/>
          </a:solidFill>
          <a:ln w="12700">
            <a:solidFill>
              <a:schemeClr val="accent5"/>
            </a:solidFill>
            <a:prstDash val="solid"/>
          </a:ln>
        </p:spPr>
      </p:sp>
      <p:sp>
        <p:nvSpPr>
          <p:cNvPr id="12" name="Text 9"/>
          <p:cNvSpPr txBox="1"/>
          <p:nvPr/>
        </p:nvSpPr>
        <p:spPr>
          <a:xfrm>
            <a:off x="9093479" y="1783080"/>
            <a:ext cx="2366696" cy="868680"/>
          </a:xfrm>
          <a:prstGeom prst="rect">
            <a:avLst/>
          </a:prstGeom>
          <a:noFill/>
          <a:ln/>
        </p:spPr>
        <p:txBody>
          <a:bodyPr wrap="square" lIns="0" tIns="0" rIns="0" bIns="0" rtlCol="0" anchor="ctr"/>
          <a:lstStyle/>
          <a:p>
            <a:pPr indent="0" marL="0">
              <a:buNone/>
            </a:pPr>
            <a:r>
              <a:rPr lang="en-US" sz="1800" b="1" dirty="0">
                <a:solidFill>
                  <a:schemeClr val="bg1"/>
                </a:solidFill>
              </a:rPr>
              <a:t>Thread 4</a:t>
            </a:r>
            <a:endParaRPr lang="en-US" sz="1800" dirty="0"/>
          </a:p>
          <a:p>
            <a:pPr indent="0" marL="0">
              <a:buNone/>
            </a:pPr>
            <a:r>
              <a:rPr lang="en-US" sz="1500" dirty="0">
                <a:solidFill>
                  <a:schemeClr val="bg1"/>
                </a:solidFill>
              </a:rPr>
              <a:t>751 – 1000</a:t>
            </a:r>
            <a:endParaRPr lang="en-US" sz="1800" dirty="0"/>
          </a:p>
        </p:txBody>
      </p:sp>
      <p:sp>
        <p:nvSpPr>
          <p:cNvPr id="13" name="Text 10"/>
          <p:cNvSpPr txBox="1"/>
          <p:nvPr/>
        </p:nvSpPr>
        <p:spPr>
          <a:xfrm>
            <a:off x="548640" y="2743200"/>
            <a:ext cx="11094415" cy="365760"/>
          </a:xfrm>
          <a:prstGeom prst="rect">
            <a:avLst/>
          </a:prstGeom>
          <a:noFill/>
          <a:ln/>
        </p:spPr>
        <p:txBody>
          <a:bodyPr wrap="square" lIns="0" tIns="0" rIns="0" bIns="0" rtlCol="0" anchor="t"/>
          <a:lstStyle/>
          <a:p>
            <a:pPr indent="0" marL="0">
              <a:buNone/>
            </a:pPr>
            <a:r>
              <a:rPr lang="en-US" sz="1400" dirty="0">
                <a:solidFill>
                  <a:schemeClr val="tx2"/>
                </a:solidFill>
              </a:rPr>
              <a:t>Example: y = 1,000 and x = 4. Leftover numbers go to the first blocks when y doesn't divide evenly.</a:t>
            </a:r>
            <a:endParaRPr lang="en-US" sz="1400" dirty="0"/>
          </a:p>
        </p:txBody>
      </p:sp>
      <p:sp>
        <p:nvSpPr>
          <p:cNvPr id="14" name="card-1"/>
          <p:cNvSpPr/>
          <p:nvPr/>
        </p:nvSpPr>
        <p:spPr>
          <a:xfrm>
            <a:off x="548640" y="3474720"/>
            <a:ext cx="3515258" cy="2377440"/>
          </a:xfrm>
          <a:prstGeom prst="roundRect">
            <a:avLst>
              <a:gd name="adj" fmla="val 4615"/>
            </a:avLst>
          </a:prstGeom>
          <a:solidFill>
            <a:schemeClr val="bg2"/>
          </a:solidFill>
          <a:ln w="12700">
            <a:solidFill>
              <a:schemeClr val="bg2"/>
            </a:solidFill>
            <a:prstDash val="solid"/>
          </a:ln>
        </p:spPr>
      </p:sp>
      <p:sp>
        <p:nvSpPr>
          <p:cNvPr id="15" name="Text 12"/>
          <p:cNvSpPr txBox="1"/>
          <p:nvPr/>
        </p:nvSpPr>
        <p:spPr>
          <a:xfrm>
            <a:off x="822960" y="3703320"/>
            <a:ext cx="2966618" cy="19659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No locks in the search</a:t>
            </a:r>
            <a:endParaRPr lang="en-US" sz="1900" dirty="0"/>
          </a:p>
          <a:p>
            <a:pPr indent="0" marL="0">
              <a:spcAft>
                <a:spcPts val="800"/>
              </a:spcAft>
              <a:buNone/>
            </a:pPr>
            <a:r>
              <a:rPr lang="en-US" sz="1500" dirty="0">
                <a:solidFill>
                  <a:schemeClr val="tx2"/>
                </a:solidFill>
              </a:rPr>
              <a:t>Each thread owns its block and, in V2, its own result list. Nothing is shared until the join.</a:t>
            </a:r>
            <a:endParaRPr lang="en-US" sz="1900" dirty="0"/>
          </a:p>
        </p:txBody>
      </p:sp>
      <p:sp>
        <p:nvSpPr>
          <p:cNvPr id="16" name="card-2"/>
          <p:cNvSpPr/>
          <p:nvPr/>
        </p:nvSpPr>
        <p:spPr>
          <a:xfrm>
            <a:off x="4338218" y="3474720"/>
            <a:ext cx="3515258" cy="2377440"/>
          </a:xfrm>
          <a:prstGeom prst="roundRect">
            <a:avLst>
              <a:gd name="adj" fmla="val 4615"/>
            </a:avLst>
          </a:prstGeom>
          <a:solidFill>
            <a:schemeClr val="bg2"/>
          </a:solidFill>
          <a:ln w="12700">
            <a:solidFill>
              <a:schemeClr val="bg2"/>
            </a:solidFill>
            <a:prstDash val="solid"/>
          </a:ln>
        </p:spPr>
      </p:sp>
      <p:sp>
        <p:nvSpPr>
          <p:cNvPr id="17" name="Text 14"/>
          <p:cNvSpPr txBox="1"/>
          <p:nvPr/>
        </p:nvSpPr>
        <p:spPr>
          <a:xfrm>
            <a:off x="4612538" y="3703320"/>
            <a:ext cx="2966618" cy="19659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One print lock (V1)</a:t>
            </a:r>
            <a:endParaRPr lang="en-US" sz="1900" dirty="0"/>
          </a:p>
          <a:p>
            <a:pPr indent="0" marL="0">
              <a:spcAft>
                <a:spcPts val="800"/>
              </a:spcAft>
              <a:buNone/>
            </a:pPr>
            <a:r>
              <a:rPr lang="en-US" sz="1500" dirty="0">
                <a:solidFill>
                  <a:schemeClr val="tx2"/>
                </a:solidFill>
              </a:rPr>
              <a:t>A line is built first, then written under a mutex. Lines from different threads mix, but never break apart.</a:t>
            </a:r>
            <a:endParaRPr lang="en-US" sz="1900" dirty="0"/>
          </a:p>
        </p:txBody>
      </p:sp>
      <p:sp>
        <p:nvSpPr>
          <p:cNvPr id="18" name="card-3"/>
          <p:cNvSpPr/>
          <p:nvPr/>
        </p:nvSpPr>
        <p:spPr>
          <a:xfrm>
            <a:off x="8127797" y="3474720"/>
            <a:ext cx="3515258" cy="2377440"/>
          </a:xfrm>
          <a:prstGeom prst="roundRect">
            <a:avLst>
              <a:gd name="adj" fmla="val 4615"/>
            </a:avLst>
          </a:prstGeom>
          <a:solidFill>
            <a:schemeClr val="bg2"/>
          </a:solidFill>
          <a:ln w="12700">
            <a:solidFill>
              <a:schemeClr val="bg2"/>
            </a:solidFill>
            <a:prstDash val="solid"/>
          </a:ln>
        </p:spPr>
      </p:sp>
      <p:sp>
        <p:nvSpPr>
          <p:cNvPr id="19" name="Text 16"/>
          <p:cNvSpPr txBox="1"/>
          <p:nvPr/>
        </p:nvSpPr>
        <p:spPr>
          <a:xfrm>
            <a:off x="8402117" y="3703320"/>
            <a:ext cx="2966618" cy="19659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One join at the end</a:t>
            </a:r>
            <a:endParaRPr lang="en-US" sz="1900" dirty="0"/>
          </a:p>
          <a:p>
            <a:pPr indent="0" marL="0">
              <a:spcAft>
                <a:spcPts val="800"/>
              </a:spcAft>
              <a:buNone/>
            </a:pPr>
            <a:r>
              <a:rPr lang="en-US" sz="1500" dirty="0">
                <a:solidFill>
                  <a:schemeClr val="tx2"/>
                </a:solidFill>
              </a:rPr>
              <a:t>All x threads start together from a gate. The run ends when the slowest block ends.</a:t>
            </a:r>
            <a:endParaRPr lang="en-US" sz="19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IMPLEMENTATION · V3 AND V4</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Divisibility testing: threads share each number</a:t>
            </a:r>
            <a:endParaRPr lang="en-US" sz="3200" dirty="0"/>
          </a:p>
        </p:txBody>
      </p:sp>
      <p:sp>
        <p:nvSpPr>
          <p:cNvPr id="5" name="box-n"/>
          <p:cNvSpPr/>
          <p:nvPr/>
        </p:nvSpPr>
        <p:spPr>
          <a:xfrm>
            <a:off x="548640" y="1783080"/>
            <a:ext cx="1188720" cy="1188720"/>
          </a:xfrm>
          <a:prstGeom prst="roundRect">
            <a:avLst>
              <a:gd name="adj" fmla="val 9231"/>
            </a:avLst>
          </a:prstGeom>
          <a:solidFill>
            <a:schemeClr val="tx1"/>
          </a:solidFill>
          <a:ln w="12700">
            <a:solidFill>
              <a:schemeClr val="tx1"/>
            </a:solidFill>
            <a:prstDash val="solid"/>
          </a:ln>
        </p:spPr>
      </p:sp>
      <p:sp>
        <p:nvSpPr>
          <p:cNvPr id="6" name="Text 3"/>
          <p:cNvSpPr txBox="1"/>
          <p:nvPr/>
        </p:nvSpPr>
        <p:spPr>
          <a:xfrm>
            <a:off x="548640" y="1783080"/>
            <a:ext cx="1188720" cy="1188720"/>
          </a:xfrm>
          <a:prstGeom prst="rect">
            <a:avLst/>
          </a:prstGeom>
          <a:noFill/>
          <a:ln/>
        </p:spPr>
        <p:txBody>
          <a:bodyPr wrap="square" lIns="0" tIns="0" rIns="0" bIns="0" rtlCol="0" anchor="ctr"/>
          <a:lstStyle/>
          <a:p>
            <a:pPr algn="ctr" indent="0" marL="0">
              <a:buNone/>
            </a:pPr>
            <a:r>
              <a:rPr lang="en-US" sz="2600" b="1" dirty="0">
                <a:solidFill>
                  <a:schemeClr val="bg1"/>
                </a:solidFill>
              </a:rPr>
              <a:t>n</a:t>
            </a:r>
            <a:endParaRPr lang="en-US" sz="2600" dirty="0"/>
          </a:p>
          <a:p>
            <a:pPr algn="ctr" indent="0" marL="0">
              <a:buNone/>
            </a:pPr>
            <a:r>
              <a:rPr lang="en-US" sz="1400" dirty="0">
                <a:solidFill>
                  <a:srgbClr val="C9CDD6"/>
                </a:solidFill>
              </a:rPr>
              <a:t>next number</a:t>
            </a:r>
            <a:endParaRPr lang="en-US" sz="2600" dirty="0"/>
          </a:p>
        </p:txBody>
      </p:sp>
      <p:sp>
        <p:nvSpPr>
          <p:cNvPr id="7" name="arrow-1"/>
          <p:cNvSpPr/>
          <p:nvPr/>
        </p:nvSpPr>
        <p:spPr>
          <a:xfrm>
            <a:off x="1874520" y="2240280"/>
            <a:ext cx="411480" cy="274320"/>
          </a:xfrm>
          <a:prstGeom prst="rightArrow">
            <a:avLst/>
          </a:prstGeom>
          <a:solidFill>
            <a:schemeClr val="tx2"/>
          </a:solidFill>
          <a:ln w="12700">
            <a:solidFill>
              <a:schemeClr val="tx2"/>
            </a:solidFill>
            <a:prstDash val="solid"/>
          </a:ln>
        </p:spPr>
      </p:sp>
      <p:sp>
        <p:nvSpPr>
          <p:cNvPr id="8" name="box-divisors"/>
          <p:cNvSpPr/>
          <p:nvPr/>
        </p:nvSpPr>
        <p:spPr>
          <a:xfrm>
            <a:off x="2423160" y="1783080"/>
            <a:ext cx="4754880" cy="1188720"/>
          </a:xfrm>
          <a:prstGeom prst="roundRect">
            <a:avLst>
              <a:gd name="adj" fmla="val 9231"/>
            </a:avLst>
          </a:prstGeom>
          <a:solidFill>
            <a:schemeClr val="bg2"/>
          </a:solidFill>
          <a:ln w="12700">
            <a:solidFill>
              <a:schemeClr val="bg2"/>
            </a:solidFill>
            <a:prstDash val="solid"/>
          </a:ln>
        </p:spPr>
      </p:sp>
      <p:sp>
        <p:nvSpPr>
          <p:cNvPr id="9" name="Text 6"/>
          <p:cNvSpPr txBox="1"/>
          <p:nvPr/>
        </p:nvSpPr>
        <p:spPr>
          <a:xfrm>
            <a:off x="2651760" y="1920240"/>
            <a:ext cx="4297680" cy="320040"/>
          </a:xfrm>
          <a:prstGeom prst="rect">
            <a:avLst/>
          </a:prstGeom>
          <a:noFill/>
          <a:ln/>
        </p:spPr>
        <p:txBody>
          <a:bodyPr wrap="square" lIns="0" tIns="0" rIns="0" bIns="0" rtlCol="0" anchor="t"/>
          <a:lstStyle/>
          <a:p>
            <a:pPr indent="0" marL="0">
              <a:buNone/>
            </a:pPr>
            <a:r>
              <a:rPr lang="en-US" sz="1400" dirty="0">
                <a:solidFill>
                  <a:schemeClr val="tx2"/>
                </a:solidFill>
              </a:rPr>
              <a:t>Divisors 2 … √n, split x ways</a:t>
            </a:r>
            <a:endParaRPr lang="en-US" sz="1400" dirty="0"/>
          </a:p>
        </p:txBody>
      </p:sp>
      <p:sp>
        <p:nvSpPr>
          <p:cNvPr id="10" name="slice-T1"/>
          <p:cNvSpPr/>
          <p:nvPr/>
        </p:nvSpPr>
        <p:spPr>
          <a:xfrm>
            <a:off x="2651760" y="2331720"/>
            <a:ext cx="992124" cy="457200"/>
          </a:xfrm>
          <a:prstGeom prst="roundRect">
            <a:avLst>
              <a:gd name="adj" fmla="val 16000"/>
            </a:avLst>
          </a:prstGeom>
          <a:solidFill>
            <a:srgbClr val="D9E6F7"/>
          </a:solidFill>
          <a:ln w="12700">
            <a:solidFill>
              <a:srgbClr val="D9E6F7"/>
            </a:solidFill>
            <a:prstDash val="solid"/>
          </a:ln>
        </p:spPr>
      </p:sp>
      <p:sp>
        <p:nvSpPr>
          <p:cNvPr id="11" name="Text 8"/>
          <p:cNvSpPr txBox="1"/>
          <p:nvPr/>
        </p:nvSpPr>
        <p:spPr>
          <a:xfrm>
            <a:off x="2651760" y="2331720"/>
            <a:ext cx="992124" cy="457200"/>
          </a:xfrm>
          <a:prstGeom prst="rect">
            <a:avLst/>
          </a:prstGeom>
          <a:noFill/>
          <a:ln/>
        </p:spPr>
        <p:txBody>
          <a:bodyPr wrap="square" lIns="0" tIns="0" rIns="0" bIns="0" rtlCol="0" anchor="ctr"/>
          <a:lstStyle/>
          <a:p>
            <a:pPr algn="ctr" indent="0" marL="0">
              <a:buNone/>
            </a:pPr>
            <a:r>
              <a:rPr lang="en-US" sz="1500" b="1" dirty="0">
                <a:solidFill>
                  <a:schemeClr val="tx1"/>
                </a:solidFill>
              </a:rPr>
              <a:t>T1</a:t>
            </a:r>
            <a:endParaRPr lang="en-US" sz="1500" dirty="0"/>
          </a:p>
        </p:txBody>
      </p:sp>
      <p:sp>
        <p:nvSpPr>
          <p:cNvPr id="12" name="slice-T2"/>
          <p:cNvSpPr/>
          <p:nvPr/>
        </p:nvSpPr>
        <p:spPr>
          <a:xfrm>
            <a:off x="3753612" y="2331720"/>
            <a:ext cx="992124" cy="457200"/>
          </a:xfrm>
          <a:prstGeom prst="roundRect">
            <a:avLst>
              <a:gd name="adj" fmla="val 16000"/>
            </a:avLst>
          </a:prstGeom>
          <a:solidFill>
            <a:srgbClr val="D9E6F7"/>
          </a:solidFill>
          <a:ln w="12700">
            <a:solidFill>
              <a:srgbClr val="D9E6F7"/>
            </a:solidFill>
            <a:prstDash val="solid"/>
          </a:ln>
        </p:spPr>
      </p:sp>
      <p:sp>
        <p:nvSpPr>
          <p:cNvPr id="13" name="Text 10"/>
          <p:cNvSpPr txBox="1"/>
          <p:nvPr/>
        </p:nvSpPr>
        <p:spPr>
          <a:xfrm>
            <a:off x="3753612" y="2331720"/>
            <a:ext cx="992124" cy="457200"/>
          </a:xfrm>
          <a:prstGeom prst="rect">
            <a:avLst/>
          </a:prstGeom>
          <a:noFill/>
          <a:ln/>
        </p:spPr>
        <p:txBody>
          <a:bodyPr wrap="square" lIns="0" tIns="0" rIns="0" bIns="0" rtlCol="0" anchor="ctr"/>
          <a:lstStyle/>
          <a:p>
            <a:pPr algn="ctr" indent="0" marL="0">
              <a:buNone/>
            </a:pPr>
            <a:r>
              <a:rPr lang="en-US" sz="1500" b="1" dirty="0">
                <a:solidFill>
                  <a:schemeClr val="tx1"/>
                </a:solidFill>
              </a:rPr>
              <a:t>T2</a:t>
            </a:r>
            <a:endParaRPr lang="en-US" sz="1500" dirty="0"/>
          </a:p>
        </p:txBody>
      </p:sp>
      <p:sp>
        <p:nvSpPr>
          <p:cNvPr id="14" name="slice-T3"/>
          <p:cNvSpPr/>
          <p:nvPr/>
        </p:nvSpPr>
        <p:spPr>
          <a:xfrm>
            <a:off x="4855464" y="2331720"/>
            <a:ext cx="992124" cy="457200"/>
          </a:xfrm>
          <a:prstGeom prst="roundRect">
            <a:avLst>
              <a:gd name="adj" fmla="val 16000"/>
            </a:avLst>
          </a:prstGeom>
          <a:solidFill>
            <a:srgbClr val="D9E6F7"/>
          </a:solidFill>
          <a:ln w="12700">
            <a:solidFill>
              <a:srgbClr val="D9E6F7"/>
            </a:solidFill>
            <a:prstDash val="solid"/>
          </a:ln>
        </p:spPr>
      </p:sp>
      <p:sp>
        <p:nvSpPr>
          <p:cNvPr id="15" name="Text 12"/>
          <p:cNvSpPr txBox="1"/>
          <p:nvPr/>
        </p:nvSpPr>
        <p:spPr>
          <a:xfrm>
            <a:off x="4855464" y="2331720"/>
            <a:ext cx="992124" cy="457200"/>
          </a:xfrm>
          <a:prstGeom prst="rect">
            <a:avLst/>
          </a:prstGeom>
          <a:noFill/>
          <a:ln/>
        </p:spPr>
        <p:txBody>
          <a:bodyPr wrap="square" lIns="0" tIns="0" rIns="0" bIns="0" rtlCol="0" anchor="ctr"/>
          <a:lstStyle/>
          <a:p>
            <a:pPr algn="ctr" indent="0" marL="0">
              <a:buNone/>
            </a:pPr>
            <a:r>
              <a:rPr lang="en-US" sz="1500" b="1" dirty="0">
                <a:solidFill>
                  <a:schemeClr val="tx1"/>
                </a:solidFill>
              </a:rPr>
              <a:t>T3</a:t>
            </a:r>
            <a:endParaRPr lang="en-US" sz="1500" dirty="0"/>
          </a:p>
        </p:txBody>
      </p:sp>
      <p:sp>
        <p:nvSpPr>
          <p:cNvPr id="16" name="slice-T4"/>
          <p:cNvSpPr/>
          <p:nvPr/>
        </p:nvSpPr>
        <p:spPr>
          <a:xfrm>
            <a:off x="5957316" y="2331720"/>
            <a:ext cx="992124" cy="457200"/>
          </a:xfrm>
          <a:prstGeom prst="roundRect">
            <a:avLst>
              <a:gd name="adj" fmla="val 16000"/>
            </a:avLst>
          </a:prstGeom>
          <a:solidFill>
            <a:srgbClr val="D9E6F7"/>
          </a:solidFill>
          <a:ln w="12700">
            <a:solidFill>
              <a:srgbClr val="D9E6F7"/>
            </a:solidFill>
            <a:prstDash val="solid"/>
          </a:ln>
        </p:spPr>
      </p:sp>
      <p:sp>
        <p:nvSpPr>
          <p:cNvPr id="17" name="Text 14"/>
          <p:cNvSpPr txBox="1"/>
          <p:nvPr/>
        </p:nvSpPr>
        <p:spPr>
          <a:xfrm>
            <a:off x="5957316" y="2331720"/>
            <a:ext cx="992124" cy="457200"/>
          </a:xfrm>
          <a:prstGeom prst="rect">
            <a:avLst/>
          </a:prstGeom>
          <a:noFill/>
          <a:ln/>
        </p:spPr>
        <p:txBody>
          <a:bodyPr wrap="square" lIns="0" tIns="0" rIns="0" bIns="0" rtlCol="0" anchor="ctr"/>
          <a:lstStyle/>
          <a:p>
            <a:pPr algn="ctr" indent="0" marL="0">
              <a:buNone/>
            </a:pPr>
            <a:r>
              <a:rPr lang="en-US" sz="1500" b="1" dirty="0">
                <a:solidFill>
                  <a:schemeClr val="tx1"/>
                </a:solidFill>
              </a:rPr>
              <a:t>T4</a:t>
            </a:r>
            <a:endParaRPr lang="en-US" sz="1500" dirty="0"/>
          </a:p>
        </p:txBody>
      </p:sp>
      <p:sp>
        <p:nvSpPr>
          <p:cNvPr id="18" name="arrow-2"/>
          <p:cNvSpPr/>
          <p:nvPr/>
        </p:nvSpPr>
        <p:spPr>
          <a:xfrm>
            <a:off x="7315200" y="2240280"/>
            <a:ext cx="411480" cy="274320"/>
          </a:xfrm>
          <a:prstGeom prst="rightArrow">
            <a:avLst/>
          </a:prstGeom>
          <a:solidFill>
            <a:schemeClr val="tx2"/>
          </a:solidFill>
          <a:ln w="12700">
            <a:solidFill>
              <a:schemeClr val="tx2"/>
            </a:solidFill>
            <a:prstDash val="solid"/>
          </a:ln>
        </p:spPr>
      </p:sp>
      <p:sp>
        <p:nvSpPr>
          <p:cNvPr id="19" name="box-barrier"/>
          <p:cNvSpPr/>
          <p:nvPr/>
        </p:nvSpPr>
        <p:spPr>
          <a:xfrm>
            <a:off x="7863840" y="1783080"/>
            <a:ext cx="1645920" cy="1188720"/>
          </a:xfrm>
          <a:prstGeom prst="roundRect">
            <a:avLst>
              <a:gd name="adj" fmla="val 9231"/>
            </a:avLst>
          </a:prstGeom>
          <a:solidFill>
            <a:schemeClr val="bg1"/>
          </a:solidFill>
          <a:ln w="19050">
            <a:solidFill>
              <a:schemeClr val="tx1"/>
            </a:solidFill>
            <a:prstDash val="solid"/>
          </a:ln>
        </p:spPr>
      </p:sp>
      <p:sp>
        <p:nvSpPr>
          <p:cNvPr id="20" name="Text 17"/>
          <p:cNvSpPr txBox="1"/>
          <p:nvPr/>
        </p:nvSpPr>
        <p:spPr>
          <a:xfrm>
            <a:off x="7863840" y="1783080"/>
            <a:ext cx="1645920" cy="1188720"/>
          </a:xfrm>
          <a:prstGeom prst="rect">
            <a:avLst/>
          </a:prstGeom>
          <a:noFill/>
          <a:ln/>
        </p:spPr>
        <p:txBody>
          <a:bodyPr wrap="square" lIns="0" tIns="0" rIns="0" bIns="0" rtlCol="0" anchor="ctr"/>
          <a:lstStyle/>
          <a:p>
            <a:pPr algn="ctr" indent="0" marL="0">
              <a:buNone/>
            </a:pPr>
            <a:r>
              <a:rPr lang="en-US" sz="2000" b="1" dirty="0">
                <a:solidFill>
                  <a:schemeClr val="tx1"/>
                </a:solidFill>
              </a:rPr>
              <a:t>Barrier</a:t>
            </a:r>
            <a:endParaRPr lang="en-US" sz="2000" dirty="0"/>
          </a:p>
          <a:p>
            <a:pPr algn="ctr" indent="0" marL="0">
              <a:buNone/>
            </a:pPr>
            <a:r>
              <a:rPr lang="en-US" sz="1400" dirty="0">
                <a:solidFill>
                  <a:schemeClr val="tx2"/>
                </a:solidFill>
              </a:rPr>
              <a:t>wait for all x</a:t>
            </a:r>
            <a:endParaRPr lang="en-US" sz="2000" dirty="0"/>
          </a:p>
        </p:txBody>
      </p:sp>
      <p:sp>
        <p:nvSpPr>
          <p:cNvPr id="21" name="arrow-3"/>
          <p:cNvSpPr/>
          <p:nvPr/>
        </p:nvSpPr>
        <p:spPr>
          <a:xfrm>
            <a:off x="9646920" y="2240280"/>
            <a:ext cx="411480" cy="274320"/>
          </a:xfrm>
          <a:prstGeom prst="rightArrow">
            <a:avLst/>
          </a:prstGeom>
          <a:solidFill>
            <a:schemeClr val="tx2"/>
          </a:solidFill>
          <a:ln w="12700">
            <a:solidFill>
              <a:schemeClr val="tx2"/>
            </a:solidFill>
            <a:prstDash val="solid"/>
          </a:ln>
        </p:spPr>
      </p:sp>
      <p:sp>
        <p:nvSpPr>
          <p:cNvPr id="22" name="box-next"/>
          <p:cNvSpPr/>
          <p:nvPr/>
        </p:nvSpPr>
        <p:spPr>
          <a:xfrm>
            <a:off x="10195560" y="1783080"/>
            <a:ext cx="1447495" cy="1188720"/>
          </a:xfrm>
          <a:prstGeom prst="roundRect">
            <a:avLst>
              <a:gd name="adj" fmla="val 9231"/>
            </a:avLst>
          </a:prstGeom>
          <a:solidFill>
            <a:schemeClr val="tx1"/>
          </a:solidFill>
          <a:ln w="12700">
            <a:solidFill>
              <a:schemeClr val="tx1"/>
            </a:solidFill>
            <a:prstDash val="solid"/>
          </a:ln>
        </p:spPr>
      </p:sp>
      <p:sp>
        <p:nvSpPr>
          <p:cNvPr id="23" name="Text 20"/>
          <p:cNvSpPr txBox="1"/>
          <p:nvPr/>
        </p:nvSpPr>
        <p:spPr>
          <a:xfrm>
            <a:off x="10195560" y="1783080"/>
            <a:ext cx="1447495" cy="1188720"/>
          </a:xfrm>
          <a:prstGeom prst="rect">
            <a:avLst/>
          </a:prstGeom>
          <a:noFill/>
          <a:ln/>
        </p:spPr>
        <p:txBody>
          <a:bodyPr wrap="square" lIns="0" tIns="0" rIns="0" bIns="0" rtlCol="0" anchor="ctr"/>
          <a:lstStyle/>
          <a:p>
            <a:pPr algn="ctr" indent="0" marL="0">
              <a:buNone/>
            </a:pPr>
            <a:r>
              <a:rPr lang="en-US" sz="2600" b="1" dirty="0">
                <a:solidFill>
                  <a:schemeClr val="bg1"/>
                </a:solidFill>
              </a:rPr>
              <a:t>n + 1</a:t>
            </a:r>
            <a:endParaRPr lang="en-US" sz="2600" dirty="0"/>
          </a:p>
          <a:p>
            <a:pPr algn="ctr" indent="0" marL="0">
              <a:buNone/>
            </a:pPr>
            <a:r>
              <a:rPr lang="en-US" sz="1400" dirty="0">
                <a:solidFill>
                  <a:srgbClr val="C9CDD6"/>
                </a:solidFill>
              </a:rPr>
              <a:t>repeat to y</a:t>
            </a:r>
            <a:endParaRPr lang="en-US" sz="2600" dirty="0"/>
          </a:p>
        </p:txBody>
      </p:sp>
      <p:sp>
        <p:nvSpPr>
          <p:cNvPr id="24" name="card-1"/>
          <p:cNvSpPr/>
          <p:nvPr/>
        </p:nvSpPr>
        <p:spPr>
          <a:xfrm>
            <a:off x="548640" y="3474720"/>
            <a:ext cx="3515258" cy="2377440"/>
          </a:xfrm>
          <a:prstGeom prst="roundRect">
            <a:avLst>
              <a:gd name="adj" fmla="val 4615"/>
            </a:avLst>
          </a:prstGeom>
          <a:solidFill>
            <a:schemeClr val="bg2"/>
          </a:solidFill>
          <a:ln w="12700">
            <a:solidFill>
              <a:schemeClr val="bg2"/>
            </a:solidFill>
            <a:prstDash val="solid"/>
          </a:ln>
        </p:spPr>
      </p:sp>
      <p:sp>
        <p:nvSpPr>
          <p:cNvPr id="25" name="Text 22"/>
          <p:cNvSpPr txBox="1"/>
          <p:nvPr/>
        </p:nvSpPr>
        <p:spPr>
          <a:xfrm>
            <a:off x="822960" y="3703320"/>
            <a:ext cx="2966618" cy="19659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Threads made once</a:t>
            </a:r>
            <a:endParaRPr lang="en-US" sz="1900" dirty="0"/>
          </a:p>
          <a:p>
            <a:pPr indent="0" marL="0">
              <a:spcAft>
                <a:spcPts val="800"/>
              </a:spcAft>
              <a:buNone/>
            </a:pPr>
            <a:r>
              <a:rPr lang="en-US" sz="1500" dirty="0">
                <a:solidFill>
                  <a:schemeClr val="tx2"/>
                </a:solidFill>
              </a:rPr>
              <a:t>The same x threads test all y − 1 numbers. Our first version made new threads per number: 22 s instead of 0.45 s.</a:t>
            </a:r>
            <a:endParaRPr lang="en-US" sz="1900" dirty="0"/>
          </a:p>
        </p:txBody>
      </p:sp>
      <p:sp>
        <p:nvSpPr>
          <p:cNvPr id="26" name="card-2"/>
          <p:cNvSpPr/>
          <p:nvPr/>
        </p:nvSpPr>
        <p:spPr>
          <a:xfrm>
            <a:off x="4338218" y="3474720"/>
            <a:ext cx="3515258" cy="2377440"/>
          </a:xfrm>
          <a:prstGeom prst="roundRect">
            <a:avLst>
              <a:gd name="adj" fmla="val 4615"/>
            </a:avLst>
          </a:prstGeom>
          <a:solidFill>
            <a:schemeClr val="bg2"/>
          </a:solidFill>
          <a:ln w="12700">
            <a:solidFill>
              <a:schemeClr val="bg2"/>
            </a:solidFill>
            <a:prstDash val="solid"/>
          </a:ln>
        </p:spPr>
      </p:sp>
      <p:sp>
        <p:nvSpPr>
          <p:cNvPr id="27" name="Text 24"/>
          <p:cNvSpPr txBox="1"/>
          <p:nvPr/>
        </p:nvSpPr>
        <p:spPr>
          <a:xfrm>
            <a:off x="4612538" y="3703320"/>
            <a:ext cx="2966618" cy="19659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Early stop</a:t>
            </a:r>
            <a:endParaRPr lang="en-US" sz="1900" dirty="0"/>
          </a:p>
          <a:p>
            <a:pPr indent="0" marL="0">
              <a:spcAft>
                <a:spcPts val="800"/>
              </a:spcAft>
              <a:buNone/>
            </a:pPr>
            <a:r>
              <a:rPr lang="en-US" sz="1500" dirty="0">
                <a:solidFill>
                  <a:schemeClr val="tx2"/>
                </a:solidFill>
              </a:rPr>
              <a:t>A shared atomic flag lets every thread quit as soon as any one finds a divisor.</a:t>
            </a:r>
            <a:endParaRPr lang="en-US" sz="1900" dirty="0"/>
          </a:p>
        </p:txBody>
      </p:sp>
      <p:sp>
        <p:nvSpPr>
          <p:cNvPr id="28" name="card-3"/>
          <p:cNvSpPr/>
          <p:nvPr/>
        </p:nvSpPr>
        <p:spPr>
          <a:xfrm>
            <a:off x="8127797" y="3474720"/>
            <a:ext cx="3515258" cy="2377440"/>
          </a:xfrm>
          <a:prstGeom prst="roundRect">
            <a:avLst>
              <a:gd name="adj" fmla="val 4615"/>
            </a:avLst>
          </a:prstGeom>
          <a:solidFill>
            <a:schemeClr val="bg2"/>
          </a:solidFill>
          <a:ln w="12700">
            <a:solidFill>
              <a:schemeClr val="bg2"/>
            </a:solidFill>
            <a:prstDash val="solid"/>
          </a:ln>
        </p:spPr>
      </p:sp>
      <p:sp>
        <p:nvSpPr>
          <p:cNvPr id="29" name="Text 26"/>
          <p:cNvSpPr txBox="1"/>
          <p:nvPr/>
        </p:nvSpPr>
        <p:spPr>
          <a:xfrm>
            <a:off x="8402117" y="3703320"/>
            <a:ext cx="2966618" cy="19659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Last thread reports</a:t>
            </a:r>
            <a:endParaRPr lang="en-US" sz="1900" dirty="0"/>
          </a:p>
          <a:p>
            <a:pPr indent="0" marL="0">
              <a:spcAft>
                <a:spcPts val="800"/>
              </a:spcAft>
              <a:buNone/>
            </a:pPr>
            <a:r>
              <a:rPr lang="en-US" sz="1500" dirty="0">
                <a:solidFill>
                  <a:schemeClr val="tx2"/>
                </a:solidFill>
              </a:rPr>
              <a:t>Once per number, the last thread to arrive decides the verdict and prints (V3) or records (V4) it.</a:t>
            </a:r>
            <a:endParaRPr lang="en-US" sz="19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METHOD</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How the runs were measured</a:t>
            </a:r>
            <a:endParaRPr lang="en-US" sz="3200" dirty="0"/>
          </a:p>
        </p:txBody>
      </p:sp>
      <p:sp>
        <p:nvSpPr>
          <p:cNvPr id="5" name="stat-1"/>
          <p:cNvSpPr/>
          <p:nvPr/>
        </p:nvSpPr>
        <p:spPr>
          <a:xfrm>
            <a:off x="548640" y="1783080"/>
            <a:ext cx="2602154" cy="2651760"/>
          </a:xfrm>
          <a:prstGeom prst="roundRect">
            <a:avLst>
              <a:gd name="adj" fmla="val 4217"/>
            </a:avLst>
          </a:prstGeom>
          <a:solidFill>
            <a:schemeClr val="bg2"/>
          </a:solidFill>
          <a:ln w="12700">
            <a:solidFill>
              <a:schemeClr val="bg2"/>
            </a:solidFill>
            <a:prstDash val="solid"/>
          </a:ln>
        </p:spPr>
      </p:sp>
      <p:sp>
        <p:nvSpPr>
          <p:cNvPr id="6" name="Text 3"/>
          <p:cNvSpPr txBox="1"/>
          <p:nvPr/>
        </p:nvSpPr>
        <p:spPr>
          <a:xfrm>
            <a:off x="822960" y="1965960"/>
            <a:ext cx="2053514" cy="731520"/>
          </a:xfrm>
          <a:prstGeom prst="rect">
            <a:avLst/>
          </a:prstGeom>
          <a:noFill/>
          <a:ln/>
        </p:spPr>
        <p:txBody>
          <a:bodyPr wrap="square" lIns="0" tIns="0" rIns="0" bIns="0" rtlCol="0" anchor="t"/>
          <a:lstStyle/>
          <a:p>
            <a:pPr indent="0" marL="0">
              <a:buNone/>
            </a:pPr>
            <a:r>
              <a:rPr lang="en-US" sz="4000" b="1" dirty="0">
                <a:solidFill>
                  <a:schemeClr val="tx1"/>
                </a:solidFill>
              </a:rPr>
              <a:t>16</a:t>
            </a:r>
            <a:endParaRPr lang="en-US" sz="4000" dirty="0"/>
          </a:p>
        </p:txBody>
      </p:sp>
      <p:sp>
        <p:nvSpPr>
          <p:cNvPr id="7" name="Text 4"/>
          <p:cNvSpPr txBox="1"/>
          <p:nvPr/>
        </p:nvSpPr>
        <p:spPr>
          <a:xfrm>
            <a:off x="822960" y="2697480"/>
            <a:ext cx="2053514" cy="365760"/>
          </a:xfrm>
          <a:prstGeom prst="rect">
            <a:avLst/>
          </a:prstGeom>
          <a:noFill/>
          <a:ln/>
        </p:spPr>
        <p:txBody>
          <a:bodyPr wrap="square" lIns="0" tIns="0" rIns="0" bIns="0" rtlCol="0" anchor="t"/>
          <a:lstStyle/>
          <a:p>
            <a:pPr indent="0" marL="0">
              <a:buNone/>
            </a:pPr>
            <a:r>
              <a:rPr lang="en-US" sz="1800" b="1" dirty="0">
                <a:solidFill>
                  <a:schemeClr val="tx1"/>
                </a:solidFill>
              </a:rPr>
              <a:t>logical CPUs</a:t>
            </a:r>
            <a:endParaRPr lang="en-US" sz="1800" dirty="0"/>
          </a:p>
        </p:txBody>
      </p:sp>
      <p:sp>
        <p:nvSpPr>
          <p:cNvPr id="8" name="Text 5"/>
          <p:cNvSpPr txBox="1"/>
          <p:nvPr/>
        </p:nvSpPr>
        <p:spPr>
          <a:xfrm>
            <a:off x="822960" y="3108960"/>
            <a:ext cx="2053514" cy="1188720"/>
          </a:xfrm>
          <a:prstGeom prst="rect">
            <a:avLst/>
          </a:prstGeom>
          <a:noFill/>
          <a:ln/>
        </p:spPr>
        <p:txBody>
          <a:bodyPr wrap="square" lIns="0" tIns="0" rIns="0" bIns="0" rtlCol="0" anchor="t"/>
          <a:lstStyle/>
          <a:p>
            <a:pPr indent="0" marL="0">
              <a:buNone/>
            </a:pPr>
            <a:r>
              <a:rPr lang="en-US" sz="1400" dirty="0">
                <a:solidFill>
                  <a:schemeClr val="tx2"/>
                </a:solidFill>
              </a:rPr>
              <a:t>Ryzen 7 9700X: 8 cores, 2 hardware threads each</a:t>
            </a:r>
            <a:endParaRPr lang="en-US" sz="1400" dirty="0"/>
          </a:p>
        </p:txBody>
      </p:sp>
      <p:sp>
        <p:nvSpPr>
          <p:cNvPr id="9" name="stat-2"/>
          <p:cNvSpPr/>
          <p:nvPr/>
        </p:nvSpPr>
        <p:spPr>
          <a:xfrm>
            <a:off x="3379394" y="1783080"/>
            <a:ext cx="2602154" cy="2651760"/>
          </a:xfrm>
          <a:prstGeom prst="roundRect">
            <a:avLst>
              <a:gd name="adj" fmla="val 4217"/>
            </a:avLst>
          </a:prstGeom>
          <a:solidFill>
            <a:schemeClr val="bg2"/>
          </a:solidFill>
          <a:ln w="12700">
            <a:solidFill>
              <a:schemeClr val="bg2"/>
            </a:solidFill>
            <a:prstDash val="solid"/>
          </a:ln>
        </p:spPr>
      </p:sp>
      <p:sp>
        <p:nvSpPr>
          <p:cNvPr id="10" name="Text 7"/>
          <p:cNvSpPr txBox="1"/>
          <p:nvPr/>
        </p:nvSpPr>
        <p:spPr>
          <a:xfrm>
            <a:off x="3653714" y="1965960"/>
            <a:ext cx="2053514" cy="731520"/>
          </a:xfrm>
          <a:prstGeom prst="rect">
            <a:avLst/>
          </a:prstGeom>
          <a:noFill/>
          <a:ln/>
        </p:spPr>
        <p:txBody>
          <a:bodyPr wrap="square" lIns="0" tIns="0" rIns="0" bIns="0" rtlCol="0" anchor="t"/>
          <a:lstStyle/>
          <a:p>
            <a:pPr indent="0" marL="0">
              <a:buNone/>
            </a:pPr>
            <a:r>
              <a:rPr lang="en-US" sz="4000" b="1" dirty="0">
                <a:solidFill>
                  <a:schemeClr val="tx1"/>
                </a:solidFill>
              </a:rPr>
              <a:t>1–128</a:t>
            </a:r>
            <a:endParaRPr lang="en-US" sz="4000" dirty="0"/>
          </a:p>
        </p:txBody>
      </p:sp>
      <p:sp>
        <p:nvSpPr>
          <p:cNvPr id="11" name="Text 8"/>
          <p:cNvSpPr txBox="1"/>
          <p:nvPr/>
        </p:nvSpPr>
        <p:spPr>
          <a:xfrm>
            <a:off x="3653714" y="2697480"/>
            <a:ext cx="2053514" cy="365760"/>
          </a:xfrm>
          <a:prstGeom prst="rect">
            <a:avLst/>
          </a:prstGeom>
          <a:noFill/>
          <a:ln/>
        </p:spPr>
        <p:txBody>
          <a:bodyPr wrap="square" lIns="0" tIns="0" rIns="0" bIns="0" rtlCol="0" anchor="t"/>
          <a:lstStyle/>
          <a:p>
            <a:pPr indent="0" marL="0">
              <a:buNone/>
            </a:pPr>
            <a:r>
              <a:rPr lang="en-US" sz="1800" b="1" dirty="0">
                <a:solidFill>
                  <a:schemeClr val="tx1"/>
                </a:solidFill>
              </a:rPr>
              <a:t>threads (x)</a:t>
            </a:r>
            <a:endParaRPr lang="en-US" sz="1800" dirty="0"/>
          </a:p>
        </p:txBody>
      </p:sp>
      <p:sp>
        <p:nvSpPr>
          <p:cNvPr id="12" name="Text 9"/>
          <p:cNvSpPr txBox="1"/>
          <p:nvPr/>
        </p:nvSpPr>
        <p:spPr>
          <a:xfrm>
            <a:off x="3653714" y="3108960"/>
            <a:ext cx="2053514" cy="1188720"/>
          </a:xfrm>
          <a:prstGeom prst="rect">
            <a:avLst/>
          </a:prstGeom>
          <a:noFill/>
          <a:ln/>
        </p:spPr>
        <p:txBody>
          <a:bodyPr wrap="square" lIns="0" tIns="0" rIns="0" bIns="0" rtlCol="0" anchor="t"/>
          <a:lstStyle/>
          <a:p>
            <a:pPr indent="0" marL="0">
              <a:buNone/>
            </a:pPr>
            <a:r>
              <a:rPr lang="en-US" sz="1400" dirty="0">
                <a:solidFill>
                  <a:schemeClr val="tx2"/>
                </a:solidFill>
              </a:rPr>
              <a:t>Doubled each step, up to 8× the CPU count</a:t>
            </a:r>
            <a:endParaRPr lang="en-US" sz="1400" dirty="0"/>
          </a:p>
        </p:txBody>
      </p:sp>
      <p:sp>
        <p:nvSpPr>
          <p:cNvPr id="13" name="stat-3"/>
          <p:cNvSpPr/>
          <p:nvPr/>
        </p:nvSpPr>
        <p:spPr>
          <a:xfrm>
            <a:off x="6210148" y="1783080"/>
            <a:ext cx="2602154" cy="2651760"/>
          </a:xfrm>
          <a:prstGeom prst="roundRect">
            <a:avLst>
              <a:gd name="adj" fmla="val 4217"/>
            </a:avLst>
          </a:prstGeom>
          <a:solidFill>
            <a:schemeClr val="bg2"/>
          </a:solidFill>
          <a:ln w="12700">
            <a:solidFill>
              <a:schemeClr val="bg2"/>
            </a:solidFill>
            <a:prstDash val="solid"/>
          </a:ln>
        </p:spPr>
      </p:sp>
      <p:sp>
        <p:nvSpPr>
          <p:cNvPr id="14" name="Text 11"/>
          <p:cNvSpPr txBox="1"/>
          <p:nvPr/>
        </p:nvSpPr>
        <p:spPr>
          <a:xfrm>
            <a:off x="6484468" y="1965960"/>
            <a:ext cx="2053514" cy="731520"/>
          </a:xfrm>
          <a:prstGeom prst="rect">
            <a:avLst/>
          </a:prstGeom>
          <a:noFill/>
          <a:ln/>
        </p:spPr>
        <p:txBody>
          <a:bodyPr wrap="square" lIns="0" tIns="0" rIns="0" bIns="0" rtlCol="0" anchor="t"/>
          <a:lstStyle/>
          <a:p>
            <a:pPr indent="0" marL="0">
              <a:buNone/>
            </a:pPr>
            <a:r>
              <a:rPr lang="en-US" sz="4000" b="1" dirty="0">
                <a:solidFill>
                  <a:schemeClr val="tx1"/>
                </a:solidFill>
              </a:rPr>
              <a:t>10K–10M</a:t>
            </a:r>
            <a:endParaRPr lang="en-US" sz="4000" dirty="0"/>
          </a:p>
        </p:txBody>
      </p:sp>
      <p:sp>
        <p:nvSpPr>
          <p:cNvPr id="15" name="Text 12"/>
          <p:cNvSpPr txBox="1"/>
          <p:nvPr/>
        </p:nvSpPr>
        <p:spPr>
          <a:xfrm>
            <a:off x="6484468" y="2697480"/>
            <a:ext cx="2053514" cy="365760"/>
          </a:xfrm>
          <a:prstGeom prst="rect">
            <a:avLst/>
          </a:prstGeom>
          <a:noFill/>
          <a:ln/>
        </p:spPr>
        <p:txBody>
          <a:bodyPr wrap="square" lIns="0" tIns="0" rIns="0" bIns="0" rtlCol="0" anchor="t"/>
          <a:lstStyle/>
          <a:p>
            <a:pPr indent="0" marL="0">
              <a:buNone/>
            </a:pPr>
            <a:r>
              <a:rPr lang="en-US" sz="1800" b="1" dirty="0">
                <a:solidFill>
                  <a:schemeClr val="tx1"/>
                </a:solidFill>
              </a:rPr>
              <a:t>search limit (y)</a:t>
            </a:r>
            <a:endParaRPr lang="en-US" sz="1800" dirty="0"/>
          </a:p>
        </p:txBody>
      </p:sp>
      <p:sp>
        <p:nvSpPr>
          <p:cNvPr id="16" name="Text 13"/>
          <p:cNvSpPr txBox="1"/>
          <p:nvPr/>
        </p:nvSpPr>
        <p:spPr>
          <a:xfrm>
            <a:off x="6484468" y="3108960"/>
            <a:ext cx="2053514" cy="1188720"/>
          </a:xfrm>
          <a:prstGeom prst="rect">
            <a:avLst/>
          </a:prstGeom>
          <a:noFill/>
          <a:ln/>
        </p:spPr>
        <p:txBody>
          <a:bodyPr wrap="square" lIns="0" tIns="0" rIns="0" bIns="0" rtlCol="0" anchor="t"/>
          <a:lstStyle/>
          <a:p>
            <a:pPr indent="0" marL="0">
              <a:buNone/>
            </a:pPr>
            <a:r>
              <a:rPr lang="en-US" sz="1400" dirty="0">
                <a:solidFill>
                  <a:schemeClr val="tx2"/>
                </a:solidFill>
              </a:rPr>
              <a:t>Divisibility variants stop at 1M: one run at 10M takes minutes</a:t>
            </a:r>
            <a:endParaRPr lang="en-US" sz="1400" dirty="0"/>
          </a:p>
        </p:txBody>
      </p:sp>
      <p:sp>
        <p:nvSpPr>
          <p:cNvPr id="17" name="stat-4"/>
          <p:cNvSpPr/>
          <p:nvPr/>
        </p:nvSpPr>
        <p:spPr>
          <a:xfrm>
            <a:off x="9040901" y="1783080"/>
            <a:ext cx="2602154" cy="2651760"/>
          </a:xfrm>
          <a:prstGeom prst="roundRect">
            <a:avLst>
              <a:gd name="adj" fmla="val 4217"/>
            </a:avLst>
          </a:prstGeom>
          <a:solidFill>
            <a:schemeClr val="bg2"/>
          </a:solidFill>
          <a:ln w="12700">
            <a:solidFill>
              <a:schemeClr val="bg2"/>
            </a:solidFill>
            <a:prstDash val="solid"/>
          </a:ln>
        </p:spPr>
      </p:sp>
      <p:sp>
        <p:nvSpPr>
          <p:cNvPr id="18" name="Text 15"/>
          <p:cNvSpPr txBox="1"/>
          <p:nvPr/>
        </p:nvSpPr>
        <p:spPr>
          <a:xfrm>
            <a:off x="9315221" y="1965960"/>
            <a:ext cx="2053514" cy="731520"/>
          </a:xfrm>
          <a:prstGeom prst="rect">
            <a:avLst/>
          </a:prstGeom>
          <a:noFill/>
          <a:ln/>
        </p:spPr>
        <p:txBody>
          <a:bodyPr wrap="square" lIns="0" tIns="0" rIns="0" bIns="0" rtlCol="0" anchor="t"/>
          <a:lstStyle/>
          <a:p>
            <a:pPr indent="0" marL="0">
              <a:buNone/>
            </a:pPr>
            <a:r>
              <a:rPr lang="en-US" sz="4000" b="1" dirty="0">
                <a:solidFill>
                  <a:schemeClr val="tx1"/>
                </a:solidFill>
              </a:rPr>
              <a:t>464</a:t>
            </a:r>
            <a:endParaRPr lang="en-US" sz="4000" dirty="0"/>
          </a:p>
        </p:txBody>
      </p:sp>
      <p:sp>
        <p:nvSpPr>
          <p:cNvPr id="19" name="Text 16"/>
          <p:cNvSpPr txBox="1"/>
          <p:nvPr/>
        </p:nvSpPr>
        <p:spPr>
          <a:xfrm>
            <a:off x="9315221" y="2697480"/>
            <a:ext cx="2053514" cy="365760"/>
          </a:xfrm>
          <a:prstGeom prst="rect">
            <a:avLst/>
          </a:prstGeom>
          <a:noFill/>
          <a:ln/>
        </p:spPr>
        <p:txBody>
          <a:bodyPr wrap="square" lIns="0" tIns="0" rIns="0" bIns="0" rtlCol="0" anchor="t"/>
          <a:lstStyle/>
          <a:p>
            <a:pPr indent="0" marL="0">
              <a:buNone/>
            </a:pPr>
            <a:r>
              <a:rPr lang="en-US" sz="1800" b="1" dirty="0">
                <a:solidFill>
                  <a:schemeClr val="tx1"/>
                </a:solidFill>
              </a:rPr>
              <a:t>timed runs</a:t>
            </a:r>
            <a:endParaRPr lang="en-US" sz="1800" dirty="0"/>
          </a:p>
        </p:txBody>
      </p:sp>
      <p:sp>
        <p:nvSpPr>
          <p:cNvPr id="20" name="Text 17"/>
          <p:cNvSpPr txBox="1"/>
          <p:nvPr/>
        </p:nvSpPr>
        <p:spPr>
          <a:xfrm>
            <a:off x="9315221" y="3108960"/>
            <a:ext cx="2053514" cy="1188720"/>
          </a:xfrm>
          <a:prstGeom prst="rect">
            <a:avLst/>
          </a:prstGeom>
          <a:noFill/>
          <a:ln/>
        </p:spPr>
        <p:txBody>
          <a:bodyPr wrap="square" lIns="0" tIns="0" rIns="0" bIns="0" rtlCol="0" anchor="t"/>
          <a:lstStyle/>
          <a:p>
            <a:pPr indent="0" marL="0">
              <a:buNone/>
            </a:pPr>
            <a:r>
              <a:rPr lang="en-US" sz="1400" dirty="0">
                <a:solidFill>
                  <a:schemeClr val="tx2"/>
                </a:solidFill>
              </a:rPr>
              <a:t>Median of 3–5 repeats per config; repeats agree within 7%</a:t>
            </a:r>
            <a:endParaRPr lang="en-US" sz="1400" dirty="0"/>
          </a:p>
        </p:txBody>
      </p:sp>
      <p:sp>
        <p:nvSpPr>
          <p:cNvPr id="21" name="callout"/>
          <p:cNvSpPr/>
          <p:nvPr/>
        </p:nvSpPr>
        <p:spPr>
          <a:xfrm>
            <a:off x="548640" y="4800600"/>
            <a:ext cx="11094415" cy="868680"/>
          </a:xfrm>
          <a:prstGeom prst="roundRect">
            <a:avLst>
              <a:gd name="adj" fmla="val 12632"/>
            </a:avLst>
          </a:prstGeom>
          <a:solidFill>
            <a:srgbClr val="E3EBF6"/>
          </a:solidFill>
          <a:ln w="12700">
            <a:solidFill>
              <a:srgbClr val="E3EBF6"/>
            </a:solidFill>
            <a:prstDash val="solid"/>
          </a:ln>
        </p:spPr>
      </p:sp>
      <p:sp>
        <p:nvSpPr>
          <p:cNvPr id="22" name="Text 19"/>
          <p:cNvSpPr txBox="1"/>
          <p:nvPr/>
        </p:nvSpPr>
        <p:spPr>
          <a:xfrm>
            <a:off x="868680" y="4800600"/>
            <a:ext cx="10454335" cy="868680"/>
          </a:xfrm>
          <a:prstGeom prst="rect">
            <a:avLst/>
          </a:prstGeom>
          <a:noFill/>
          <a:ln/>
        </p:spPr>
        <p:txBody>
          <a:bodyPr wrap="square" lIns="0" tIns="0" rIns="0" bIns="0" rtlCol="0" anchor="ctr"/>
          <a:lstStyle/>
          <a:p>
            <a:pPr indent="0" marL="0">
              <a:buNone/>
            </a:pPr>
            <a:r>
              <a:rPr lang="en-US" sz="1600" dirty="0">
                <a:solidFill>
                  <a:schemeClr val="tx1"/>
                </a:solidFill>
              </a:rPr>
              <a:t>Output went to a file, not the terminal. Terminal printing is slow enough to drown out the threading effects being measured.</a:t>
            </a:r>
            <a:endParaRPr lang="en-US" sz="16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548640" y="548640"/>
            <a:ext cx="11094415" cy="365760"/>
          </a:xfrm>
          <a:prstGeom prst="rect">
            <a:avLst/>
          </a:prstGeom>
          <a:noFill/>
          <a:ln/>
        </p:spPr>
        <p:txBody>
          <a:bodyPr wrap="square" lIns="0" tIns="0" rIns="0" bIns="0" rtlCol="0"/>
          <a:lstStyle/>
          <a:p>
            <a:pPr indent="0" marL="0">
              <a:buNone/>
            </a:pPr>
            <a:r>
              <a:rPr lang="en-US" sz="1400" b="1" spc="200" kern="0" dirty="0">
                <a:solidFill>
                  <a:schemeClr val="accent4"/>
                </a:solidFill>
              </a:rPr>
              <a:t>THE RESULT, AT 128 THREADS VS. 1</a:t>
            </a:r>
            <a:endParaRPr lang="en-US" sz="1400" dirty="0"/>
          </a:p>
        </p:txBody>
      </p:sp>
      <p:sp>
        <p:nvSpPr>
          <p:cNvPr id="4" name="Text 1"/>
          <p:cNvSpPr txBox="1"/>
          <p:nvPr/>
        </p:nvSpPr>
        <p:spPr>
          <a:xfrm>
            <a:off x="548640" y="1463040"/>
            <a:ext cx="5303520" cy="1463040"/>
          </a:xfrm>
          <a:prstGeom prst="rect">
            <a:avLst/>
          </a:prstGeom>
          <a:noFill/>
          <a:ln/>
        </p:spPr>
        <p:txBody>
          <a:bodyPr wrap="square" lIns="0" tIns="0" rIns="0" bIns="0" rtlCol="0" anchor="b"/>
          <a:lstStyle/>
          <a:p>
            <a:pPr indent="0" marL="0">
              <a:buNone/>
            </a:pPr>
            <a:r>
              <a:rPr lang="en-US" sz="9600" b="1" dirty="0">
                <a:solidFill>
                  <a:schemeClr val="accent6"/>
                </a:solidFill>
              </a:rPr>
              <a:t>8.2×</a:t>
            </a:r>
            <a:endParaRPr lang="en-US" sz="9600" dirty="0"/>
          </a:p>
        </p:txBody>
      </p:sp>
      <p:sp>
        <p:nvSpPr>
          <p:cNvPr id="5" name="Text 2"/>
          <p:cNvSpPr txBox="1"/>
          <p:nvPr/>
        </p:nvSpPr>
        <p:spPr>
          <a:xfrm>
            <a:off x="548640" y="3017520"/>
            <a:ext cx="5303520" cy="548640"/>
          </a:xfrm>
          <a:prstGeom prst="rect">
            <a:avLst/>
          </a:prstGeom>
          <a:noFill/>
          <a:ln/>
        </p:spPr>
        <p:txBody>
          <a:bodyPr wrap="square" lIns="0" tIns="0" rIns="0" bIns="0" rtlCol="0" anchor="t"/>
          <a:lstStyle/>
          <a:p>
            <a:pPr indent="0" marL="0">
              <a:buNone/>
            </a:pPr>
            <a:r>
              <a:rPr lang="en-US" sz="2800" b="1" dirty="0">
                <a:solidFill>
                  <a:schemeClr val="bg1"/>
                </a:solidFill>
              </a:rPr>
              <a:t>faster</a:t>
            </a:r>
            <a:endParaRPr lang="en-US" sz="2800" dirty="0"/>
          </a:p>
        </p:txBody>
      </p:sp>
      <p:sp>
        <p:nvSpPr>
          <p:cNvPr id="6" name="Text 3"/>
          <p:cNvSpPr txBox="1"/>
          <p:nvPr/>
        </p:nvSpPr>
        <p:spPr>
          <a:xfrm>
            <a:off x="548640" y="3611880"/>
            <a:ext cx="5303520" cy="457200"/>
          </a:xfrm>
          <a:prstGeom prst="rect">
            <a:avLst/>
          </a:prstGeom>
          <a:noFill/>
          <a:ln/>
        </p:spPr>
        <p:txBody>
          <a:bodyPr wrap="square" lIns="0" tIns="0" rIns="0" bIns="0" rtlCol="0" anchor="t"/>
          <a:lstStyle/>
          <a:p>
            <a:pPr indent="0" marL="0">
              <a:buNone/>
            </a:pPr>
            <a:r>
              <a:rPr lang="en-US" sz="1800" dirty="0">
                <a:solidFill>
                  <a:srgbClr val="C9CDD6"/>
                </a:solidFill>
              </a:rPr>
              <a:t>Straight division (V1), y = 10,000,000</a:t>
            </a:r>
            <a:endParaRPr lang="en-US" sz="1800" dirty="0"/>
          </a:p>
        </p:txBody>
      </p:sp>
      <p:sp>
        <p:nvSpPr>
          <p:cNvPr id="7" name="Text 4"/>
          <p:cNvSpPr txBox="1"/>
          <p:nvPr/>
        </p:nvSpPr>
        <p:spPr>
          <a:xfrm>
            <a:off x="6217920" y="1463040"/>
            <a:ext cx="5303520" cy="1463040"/>
          </a:xfrm>
          <a:prstGeom prst="rect">
            <a:avLst/>
          </a:prstGeom>
          <a:noFill/>
          <a:ln/>
        </p:spPr>
        <p:txBody>
          <a:bodyPr wrap="square" lIns="0" tIns="0" rIns="0" bIns="0" rtlCol="0" anchor="b"/>
          <a:lstStyle/>
          <a:p>
            <a:pPr indent="0" marL="0">
              <a:buNone/>
            </a:pPr>
            <a:r>
              <a:rPr lang="en-US" sz="9600" b="1" dirty="0">
                <a:solidFill>
                  <a:schemeClr val="accent4"/>
                </a:solidFill>
              </a:rPr>
              <a:t>265×</a:t>
            </a:r>
            <a:endParaRPr lang="en-US" sz="9600" dirty="0"/>
          </a:p>
        </p:txBody>
      </p:sp>
      <p:sp>
        <p:nvSpPr>
          <p:cNvPr id="8" name="Text 5"/>
          <p:cNvSpPr txBox="1"/>
          <p:nvPr/>
        </p:nvSpPr>
        <p:spPr>
          <a:xfrm>
            <a:off x="6217920" y="3017520"/>
            <a:ext cx="5303520" cy="548640"/>
          </a:xfrm>
          <a:prstGeom prst="rect">
            <a:avLst/>
          </a:prstGeom>
          <a:noFill/>
          <a:ln/>
        </p:spPr>
        <p:txBody>
          <a:bodyPr wrap="square" lIns="0" tIns="0" rIns="0" bIns="0" rtlCol="0" anchor="t"/>
          <a:lstStyle/>
          <a:p>
            <a:pPr indent="0" marL="0">
              <a:buNone/>
            </a:pPr>
            <a:r>
              <a:rPr lang="en-US" sz="2800" b="1" dirty="0">
                <a:solidFill>
                  <a:schemeClr val="bg1"/>
                </a:solidFill>
              </a:rPr>
              <a:t>slower</a:t>
            </a:r>
            <a:endParaRPr lang="en-US" sz="2800" dirty="0"/>
          </a:p>
        </p:txBody>
      </p:sp>
      <p:sp>
        <p:nvSpPr>
          <p:cNvPr id="9" name="Text 6"/>
          <p:cNvSpPr txBox="1"/>
          <p:nvPr/>
        </p:nvSpPr>
        <p:spPr>
          <a:xfrm>
            <a:off x="6217920" y="3611880"/>
            <a:ext cx="5303520" cy="457200"/>
          </a:xfrm>
          <a:prstGeom prst="rect">
            <a:avLst/>
          </a:prstGeom>
          <a:noFill/>
          <a:ln/>
        </p:spPr>
        <p:txBody>
          <a:bodyPr wrap="square" lIns="0" tIns="0" rIns="0" bIns="0" rtlCol="0" anchor="t"/>
          <a:lstStyle/>
          <a:p>
            <a:pPr indent="0" marL="0">
              <a:buNone/>
            </a:pPr>
            <a:r>
              <a:rPr lang="en-US" sz="1800" dirty="0">
                <a:solidFill>
                  <a:srgbClr val="C9CDD6"/>
                </a:solidFill>
              </a:rPr>
              <a:t>Divisibility testing (V3, V4), y = 1,000,000</a:t>
            </a:r>
            <a:endParaRPr lang="en-US" sz="1800" dirty="0"/>
          </a:p>
        </p:txBody>
      </p:sp>
      <p:sp>
        <p:nvSpPr>
          <p:cNvPr id="10" name="Text 7"/>
          <p:cNvSpPr txBox="1"/>
          <p:nvPr/>
        </p:nvSpPr>
        <p:spPr>
          <a:xfrm>
            <a:off x="548640" y="5120640"/>
            <a:ext cx="11094415" cy="914400"/>
          </a:xfrm>
          <a:prstGeom prst="rect">
            <a:avLst/>
          </a:prstGeom>
          <a:noFill/>
          <a:ln/>
        </p:spPr>
        <p:txBody>
          <a:bodyPr wrap="square" lIns="0" tIns="0" rIns="0" bIns="0" rtlCol="0" anchor="t"/>
          <a:lstStyle/>
          <a:p>
            <a:pPr indent="0" marL="0">
              <a:buNone/>
            </a:pPr>
            <a:r>
              <a:rPr lang="en-US" sz="2600" dirty="0">
                <a:solidFill>
                  <a:schemeClr val="bg1"/>
                </a:solidFill>
              </a:rPr>
              <a:t>Same machine, same primes. How the work is divided decides whether threads help.</a:t>
            </a:r>
            <a:endParaRPr lang="en-US" sz="2600" dirty="0"/>
          </a:p>
        </p:txBody>
      </p:sp>
      <p:sp>
        <p:nvSpPr>
          <p:cNvPr id="11" name="Text 0"/>
          <p:cNvSpPr/>
          <p:nvPr>
            <p:ph idx="101" type="title" hasCustomPrompt="1"/>
          </p:nvPr>
        </p:nvSpPr>
        <p:spPr>
          <a:xfrm>
            <a:off x="548640" y="2011680"/>
            <a:ext cx="11094415" cy="1371600"/>
          </a:xfrm>
          <a:prstGeom prst="rect">
            <a:avLst/>
          </a:prstGeom>
          <a:noFill/>
          <a:ln/>
        </p:spPr>
        <p:txBody>
          <a:bodyPr wrap="square" lIns="0" tIns="0" rIns="0" bIns="0" rtlCol="0" anchor="b"/>
          <a:lstStyle/>
          <a:p>
            <a:pPr algn="l" indent="0" marL="0">
              <a:buNone/>
            </a:pPr>
            <a:endParaRPr lang="en-US" sz="6000" dirty="0"/>
          </a:p>
        </p:txBody>
      </p:sp>
      <p:sp>
        <p:nvSpPr>
          <p:cNvPr id="12" name="Text 0"/>
          <p:cNvSpPr/>
          <p:nvPr>
            <p:ph idx="102" type="body" hasCustomPrompt="1"/>
          </p:nvPr>
        </p:nvSpPr>
        <p:spPr>
          <a:xfrm>
            <a:off x="548640" y="3566160"/>
            <a:ext cx="9601200" cy="1097280"/>
          </a:xfrm>
          <a:prstGeom prst="rect">
            <a:avLst/>
          </a:prstGeom>
          <a:noFill/>
          <a:ln/>
        </p:spPr>
        <p:txBody>
          <a:bodyPr wrap="square" lIns="0" tIns="0" rIns="0" bIns="0" rtlCol="0" anchor="t"/>
          <a:lstStyle/>
          <a:p>
            <a:pPr indent="0" marL="0">
              <a:buNone/>
            </a:pP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RUN TIME · y = 1,000,000</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More threads help one scheme and hurt the other</a:t>
            </a:r>
            <a:endParaRPr lang="en-US" sz="3200" dirty="0"/>
          </a:p>
        </p:txBody>
      </p:sp>
      <p:graphicFrame>
        <p:nvGraphicFramePr>
          <p:cNvPr id="5" name="chart-time-vs-threads" descr=""/>
          <p:cNvGraphicFramePr/>
          <p:nvPr/>
        </p:nvGraphicFramePr>
        <p:xfrm>
          <a:off x="548640" y="1600200"/>
          <a:ext cx="11094415" cy="4617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SPEEDUP · STRAIGHT DIVISION, y = 10,000,000</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Gains stop at the CPU's 16 hardware threads</a:t>
            </a:r>
            <a:endParaRPr lang="en-US" sz="3200" dirty="0"/>
          </a:p>
        </p:txBody>
      </p:sp>
      <p:graphicFrame>
        <p:nvGraphicFramePr>
          <p:cNvPr id="5" name="chart-speedup" descr=""/>
          <p:cNvGraphicFramePr/>
          <p:nvPr/>
        </p:nvGraphicFramePr>
        <p:xfrm>
          <a:off x="548640" y="1600200"/>
          <a:ext cx="6949440" cy="46177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863840" y="1737360"/>
            <a:ext cx="3779215" cy="822960"/>
          </a:xfrm>
          <a:prstGeom prst="rect">
            <a:avLst/>
          </a:prstGeom>
          <a:noFill/>
          <a:ln/>
        </p:spPr>
        <p:txBody>
          <a:bodyPr wrap="square" lIns="0" tIns="0" rIns="0" bIns="0" rtlCol="0" anchor="t"/>
          <a:lstStyle/>
          <a:p>
            <a:pPr indent="0" marL="0">
              <a:buNone/>
            </a:pPr>
            <a:r>
              <a:rPr lang="en-US" sz="4800" b="1" dirty="0">
                <a:solidFill>
                  <a:schemeClr val="accent5"/>
                </a:solidFill>
              </a:rPr>
              <a:t>7.5×</a:t>
            </a:r>
            <a:endParaRPr lang="en-US" sz="4800" dirty="0"/>
          </a:p>
        </p:txBody>
      </p:sp>
      <p:sp>
        <p:nvSpPr>
          <p:cNvPr id="7" name="Text 3"/>
          <p:cNvSpPr txBox="1"/>
          <p:nvPr/>
        </p:nvSpPr>
        <p:spPr>
          <a:xfrm>
            <a:off x="7863840" y="2560320"/>
            <a:ext cx="3779215" cy="685800"/>
          </a:xfrm>
          <a:prstGeom prst="rect">
            <a:avLst/>
          </a:prstGeom>
          <a:noFill/>
          <a:ln/>
        </p:spPr>
        <p:txBody>
          <a:bodyPr wrap="square" lIns="0" tIns="0" rIns="0" bIns="0" rtlCol="0" anchor="t"/>
          <a:lstStyle/>
          <a:p>
            <a:pPr indent="0" marL="0">
              <a:buNone/>
            </a:pPr>
            <a:r>
              <a:rPr lang="en-US" sz="1600" dirty="0">
                <a:solidFill>
                  <a:schemeClr val="tx2"/>
                </a:solidFill>
              </a:rPr>
              <a:t>V1 at 16 threads. Another 112 threads add only 0.7×.</a:t>
            </a:r>
            <a:endParaRPr lang="en-US" sz="1600" dirty="0"/>
          </a:p>
        </p:txBody>
      </p:sp>
      <p:sp>
        <p:nvSpPr>
          <p:cNvPr id="8" name="Text 4"/>
          <p:cNvSpPr txBox="1"/>
          <p:nvPr/>
        </p:nvSpPr>
        <p:spPr>
          <a:xfrm>
            <a:off x="7863840" y="3429000"/>
            <a:ext cx="3779215" cy="109728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Why not 16×?</a:t>
            </a:r>
            <a:endParaRPr lang="en-US" sz="1900" dirty="0"/>
          </a:p>
          <a:p>
            <a:pPr indent="0" marL="0">
              <a:spcAft>
                <a:spcPts val="600"/>
              </a:spcAft>
              <a:buNone/>
            </a:pPr>
            <a:r>
              <a:rPr lang="en-US" sz="1600" dirty="0">
                <a:solidFill>
                  <a:schemeClr val="tx2"/>
                </a:solidFill>
              </a:rPr>
              <a:t>8 physical cores share 16 hardware threads, and the blocks are unevenly loaded.</a:t>
            </a:r>
            <a:endParaRPr lang="en-US" sz="1900" dirty="0"/>
          </a:p>
        </p:txBody>
      </p:sp>
      <p:sp>
        <p:nvSpPr>
          <p:cNvPr id="9" name="Text 5"/>
          <p:cNvSpPr txBox="1"/>
          <p:nvPr/>
        </p:nvSpPr>
        <p:spPr>
          <a:xfrm>
            <a:off x="7863840" y="4709160"/>
            <a:ext cx="3779215" cy="128016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Small jobs lose</a:t>
            </a:r>
            <a:endParaRPr lang="en-US" sz="1900" dirty="0"/>
          </a:p>
          <a:p>
            <a:pPr indent="0" marL="0">
              <a:spcAft>
                <a:spcPts val="600"/>
              </a:spcAft>
              <a:buNone/>
            </a:pPr>
            <a:r>
              <a:rPr lang="en-US" sz="1600" dirty="0">
                <a:solidFill>
                  <a:schemeClr val="tx2"/>
                </a:solidFill>
              </a:rPr>
              <a:t>At y = 10,000: 0.5 ms on 4 threads, 1.6 ms on 128. Starting threads costs more than the work.</a:t>
            </a:r>
            <a:endParaRPr lang="en-US" sz="19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JOINING BOTTLENECK · V2, x = 8, y = 10,000,000</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The join waits for the slowest block</a:t>
            </a:r>
            <a:endParaRPr lang="en-US" sz="3200" dirty="0"/>
          </a:p>
        </p:txBody>
      </p:sp>
      <p:graphicFrame>
        <p:nvGraphicFramePr>
          <p:cNvPr id="5" name="chart-join-timeline" descr=""/>
          <p:cNvGraphicFramePr/>
          <p:nvPr/>
        </p:nvGraphicFramePr>
        <p:xfrm>
          <a:off x="548640" y="1600200"/>
          <a:ext cx="6583680" cy="46177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589520" y="1737360"/>
            <a:ext cx="1920240" cy="777240"/>
          </a:xfrm>
          <a:prstGeom prst="rect">
            <a:avLst/>
          </a:prstGeom>
          <a:noFill/>
          <a:ln/>
        </p:spPr>
        <p:txBody>
          <a:bodyPr wrap="square" lIns="0" tIns="0" rIns="0" bIns="0" rtlCol="0" anchor="t"/>
          <a:lstStyle/>
          <a:p>
            <a:pPr indent="0" marL="0">
              <a:buNone/>
            </a:pPr>
            <a:r>
              <a:rPr lang="en-US" sz="4400" b="1" dirty="0">
                <a:solidFill>
                  <a:schemeClr val="tx1"/>
                </a:solidFill>
              </a:rPr>
              <a:t>25%</a:t>
            </a:r>
            <a:endParaRPr lang="en-US" sz="4400" dirty="0"/>
          </a:p>
        </p:txBody>
      </p:sp>
      <p:sp>
        <p:nvSpPr>
          <p:cNvPr id="7" name="Text 3"/>
          <p:cNvSpPr txBox="1"/>
          <p:nvPr/>
        </p:nvSpPr>
        <p:spPr>
          <a:xfrm>
            <a:off x="7589520" y="2514600"/>
            <a:ext cx="1920240" cy="731520"/>
          </a:xfrm>
          <a:prstGeom prst="rect">
            <a:avLst/>
          </a:prstGeom>
          <a:noFill/>
          <a:ln/>
        </p:spPr>
        <p:txBody>
          <a:bodyPr wrap="square" lIns="0" tIns="0" rIns="0" bIns="0" rtlCol="0" anchor="t"/>
          <a:lstStyle/>
          <a:p>
            <a:pPr indent="0" marL="0">
              <a:buNone/>
            </a:pPr>
            <a:r>
              <a:rPr lang="en-US" sz="1500" dirty="0">
                <a:solidFill>
                  <a:schemeClr val="tx2"/>
                </a:solidFill>
              </a:rPr>
              <a:t>of thread time idle at 8 threads</a:t>
            </a:r>
            <a:endParaRPr lang="en-US" sz="1500" dirty="0"/>
          </a:p>
        </p:txBody>
      </p:sp>
      <p:sp>
        <p:nvSpPr>
          <p:cNvPr id="8" name="Text 4"/>
          <p:cNvSpPr txBox="1"/>
          <p:nvPr/>
        </p:nvSpPr>
        <p:spPr>
          <a:xfrm>
            <a:off x="9646920" y="1737360"/>
            <a:ext cx="1920240" cy="777240"/>
          </a:xfrm>
          <a:prstGeom prst="rect">
            <a:avLst/>
          </a:prstGeom>
          <a:noFill/>
          <a:ln/>
        </p:spPr>
        <p:txBody>
          <a:bodyPr wrap="square" lIns="0" tIns="0" rIns="0" bIns="0" rtlCol="0" anchor="t"/>
          <a:lstStyle/>
          <a:p>
            <a:pPr indent="0" marL="0">
              <a:buNone/>
            </a:pPr>
            <a:r>
              <a:rPr lang="en-US" sz="4400" b="1" dirty="0">
                <a:solidFill>
                  <a:schemeClr val="tx1"/>
                </a:solidFill>
              </a:rPr>
              <a:t>51%</a:t>
            </a:r>
            <a:endParaRPr lang="en-US" sz="4400" dirty="0"/>
          </a:p>
        </p:txBody>
      </p:sp>
      <p:sp>
        <p:nvSpPr>
          <p:cNvPr id="9" name="Text 5"/>
          <p:cNvSpPr txBox="1"/>
          <p:nvPr/>
        </p:nvSpPr>
        <p:spPr>
          <a:xfrm>
            <a:off x="9646920" y="2514600"/>
            <a:ext cx="1920240" cy="731520"/>
          </a:xfrm>
          <a:prstGeom prst="rect">
            <a:avLst/>
          </a:prstGeom>
          <a:noFill/>
          <a:ln/>
        </p:spPr>
        <p:txBody>
          <a:bodyPr wrap="square" lIns="0" tIns="0" rIns="0" bIns="0" rtlCol="0" anchor="t"/>
          <a:lstStyle/>
          <a:p>
            <a:pPr indent="0" marL="0">
              <a:buNone/>
            </a:pPr>
            <a:r>
              <a:rPr lang="en-US" sz="1500" dirty="0">
                <a:solidFill>
                  <a:schemeClr val="tx2"/>
                </a:solidFill>
              </a:rPr>
              <a:t>idle at 128 threads</a:t>
            </a:r>
            <a:endParaRPr lang="en-US" sz="1500" dirty="0"/>
          </a:p>
        </p:txBody>
      </p:sp>
      <p:sp>
        <p:nvSpPr>
          <p:cNvPr id="10" name="Text 6"/>
          <p:cNvSpPr txBox="1"/>
          <p:nvPr/>
        </p:nvSpPr>
        <p:spPr>
          <a:xfrm>
            <a:off x="7589520" y="3474720"/>
            <a:ext cx="4053535" cy="132588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Equal blocks, unequal work</a:t>
            </a:r>
            <a:endParaRPr lang="en-US" sz="1900" dirty="0"/>
          </a:p>
          <a:p>
            <a:pPr indent="0" marL="0">
              <a:spcAft>
                <a:spcPts val="600"/>
              </a:spcAft>
              <a:buNone/>
            </a:pPr>
            <a:r>
              <a:rPr lang="en-US" sz="1600" dirty="0">
                <a:solidFill>
                  <a:schemeClr val="tx2"/>
                </a:solidFill>
              </a:rPr>
              <a:t>Every block has the same count of numbers, but bigger numbers have more divisors to test. The highest blocks run longest.</a:t>
            </a:r>
            <a:endParaRPr lang="en-US" sz="1900" dirty="0"/>
          </a:p>
        </p:txBody>
      </p:sp>
      <p:sp>
        <p:nvSpPr>
          <p:cNvPr id="11" name="Text 7"/>
          <p:cNvSpPr txBox="1"/>
          <p:nvPr/>
        </p:nvSpPr>
        <p:spPr>
          <a:xfrm>
            <a:off x="7589520" y="4892040"/>
            <a:ext cx="4053535" cy="1188720"/>
          </a:xfrm>
          <a:prstGeom prst="rect">
            <a:avLst/>
          </a:prstGeom>
          <a:noFill/>
          <a:ln/>
        </p:spPr>
        <p:txBody>
          <a:bodyPr wrap="square" lIns="0" tIns="0" rIns="0" bIns="0" rtlCol="0" anchor="t"/>
          <a:lstStyle/>
          <a:p>
            <a:pPr indent="0" marL="0">
              <a:spcAft>
                <a:spcPts val="600"/>
              </a:spcAft>
              <a:buNone/>
            </a:pPr>
            <a:r>
              <a:rPr lang="en-US" sz="1900" b="1" dirty="0">
                <a:solidFill>
                  <a:schemeClr val="tx1"/>
                </a:solidFill>
              </a:rPr>
              <a:t>The fix the spec rules out</a:t>
            </a:r>
            <a:endParaRPr lang="en-US" sz="1900" dirty="0"/>
          </a:p>
          <a:p>
            <a:pPr indent="0" marL="0">
              <a:spcAft>
                <a:spcPts val="600"/>
              </a:spcAft>
              <a:buNone/>
            </a:pPr>
            <a:r>
              <a:rPr lang="en-US" sz="1600" dirty="0">
                <a:solidFill>
                  <a:schemeClr val="tx2"/>
                </a:solidFill>
              </a:rPr>
              <a:t>Smaller chunks handed out on demand would balance the load, but the task requires straight division.</a:t>
            </a:r>
            <a:endParaRPr lang="en-US" sz="19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JOINING BOTTLENECK · V3 AND V4, y = 1,000,000</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A barrier on every number dominates the run</a:t>
            </a:r>
            <a:endParaRPr lang="en-US" sz="3200" dirty="0"/>
          </a:p>
        </p:txBody>
      </p:sp>
      <p:sp>
        <p:nvSpPr>
          <p:cNvPr id="5" name="stat-1"/>
          <p:cNvSpPr/>
          <p:nvPr/>
        </p:nvSpPr>
        <p:spPr>
          <a:xfrm>
            <a:off x="548640" y="1783080"/>
            <a:ext cx="3240938" cy="1463040"/>
          </a:xfrm>
          <a:prstGeom prst="roundRect">
            <a:avLst>
              <a:gd name="adj" fmla="val 7500"/>
            </a:avLst>
          </a:prstGeom>
          <a:solidFill>
            <a:schemeClr val="bg2"/>
          </a:solidFill>
          <a:ln w="12700">
            <a:solidFill>
              <a:schemeClr val="bg2"/>
            </a:solidFill>
            <a:prstDash val="solid"/>
          </a:ln>
        </p:spPr>
      </p:sp>
      <p:sp>
        <p:nvSpPr>
          <p:cNvPr id="6" name="Text 3"/>
          <p:cNvSpPr txBox="1"/>
          <p:nvPr/>
        </p:nvSpPr>
        <p:spPr>
          <a:xfrm>
            <a:off x="822960" y="1920240"/>
            <a:ext cx="2692298" cy="777240"/>
          </a:xfrm>
          <a:prstGeom prst="rect">
            <a:avLst/>
          </a:prstGeom>
          <a:noFill/>
          <a:ln/>
        </p:spPr>
        <p:txBody>
          <a:bodyPr wrap="square" lIns="0" tIns="0" rIns="0" bIns="0" rtlCol="0" anchor="t"/>
          <a:lstStyle/>
          <a:p>
            <a:pPr indent="0" marL="0">
              <a:buNone/>
            </a:pPr>
            <a:r>
              <a:rPr lang="en-US" sz="4000" b="1" dirty="0">
                <a:solidFill>
                  <a:schemeClr val="tx1"/>
                </a:solidFill>
              </a:rPr>
              <a:t>0.11 µs</a:t>
            </a:r>
            <a:endParaRPr lang="en-US" sz="4000" dirty="0"/>
          </a:p>
        </p:txBody>
      </p:sp>
      <p:sp>
        <p:nvSpPr>
          <p:cNvPr id="7" name="Text 4"/>
          <p:cNvSpPr txBox="1"/>
          <p:nvPr/>
        </p:nvSpPr>
        <p:spPr>
          <a:xfrm>
            <a:off x="822960" y="2697480"/>
            <a:ext cx="2692298" cy="411480"/>
          </a:xfrm>
          <a:prstGeom prst="rect">
            <a:avLst/>
          </a:prstGeom>
          <a:noFill/>
          <a:ln/>
        </p:spPr>
        <p:txBody>
          <a:bodyPr wrap="square" lIns="0" tIns="0" rIns="0" bIns="0" rtlCol="0" anchor="t"/>
          <a:lstStyle/>
          <a:p>
            <a:pPr indent="0" marL="0">
              <a:buNone/>
            </a:pPr>
            <a:r>
              <a:rPr lang="en-US" sz="1500" dirty="0">
                <a:solidFill>
                  <a:schemeClr val="tx2"/>
                </a:solidFill>
              </a:rPr>
              <a:t>per number, 1 thread</a:t>
            </a:r>
            <a:endParaRPr lang="en-US" sz="1500" dirty="0"/>
          </a:p>
        </p:txBody>
      </p:sp>
      <p:sp>
        <p:nvSpPr>
          <p:cNvPr id="8" name="arrow-1"/>
          <p:cNvSpPr/>
          <p:nvPr/>
        </p:nvSpPr>
        <p:spPr>
          <a:xfrm>
            <a:off x="3926738" y="2377440"/>
            <a:ext cx="411480" cy="274320"/>
          </a:xfrm>
          <a:prstGeom prst="rightArrow">
            <a:avLst/>
          </a:prstGeom>
          <a:solidFill>
            <a:schemeClr val="tx2"/>
          </a:solidFill>
          <a:ln w="12700">
            <a:solidFill>
              <a:schemeClr val="tx2"/>
            </a:solidFill>
            <a:prstDash val="solid"/>
          </a:ln>
        </p:spPr>
      </p:sp>
      <p:sp>
        <p:nvSpPr>
          <p:cNvPr id="9" name="stat-2"/>
          <p:cNvSpPr/>
          <p:nvPr/>
        </p:nvSpPr>
        <p:spPr>
          <a:xfrm>
            <a:off x="4475378" y="1783080"/>
            <a:ext cx="3240938" cy="1463040"/>
          </a:xfrm>
          <a:prstGeom prst="roundRect">
            <a:avLst>
              <a:gd name="adj" fmla="val 7500"/>
            </a:avLst>
          </a:prstGeom>
          <a:solidFill>
            <a:schemeClr val="bg2"/>
          </a:solidFill>
          <a:ln w="12700">
            <a:solidFill>
              <a:schemeClr val="bg2"/>
            </a:solidFill>
            <a:prstDash val="solid"/>
          </a:ln>
        </p:spPr>
      </p:sp>
      <p:sp>
        <p:nvSpPr>
          <p:cNvPr id="10" name="Text 7"/>
          <p:cNvSpPr txBox="1"/>
          <p:nvPr/>
        </p:nvSpPr>
        <p:spPr>
          <a:xfrm>
            <a:off x="4749698" y="1920240"/>
            <a:ext cx="2692298" cy="777240"/>
          </a:xfrm>
          <a:prstGeom prst="rect">
            <a:avLst/>
          </a:prstGeom>
          <a:noFill/>
          <a:ln/>
        </p:spPr>
        <p:txBody>
          <a:bodyPr wrap="square" lIns="0" tIns="0" rIns="0" bIns="0" rtlCol="0" anchor="t"/>
          <a:lstStyle/>
          <a:p>
            <a:pPr indent="0" marL="0">
              <a:buNone/>
            </a:pPr>
            <a:r>
              <a:rPr lang="en-US" sz="4000" b="1" dirty="0">
                <a:solidFill>
                  <a:schemeClr val="tx1"/>
                </a:solidFill>
              </a:rPr>
              <a:t>2.2 µs</a:t>
            </a:r>
            <a:endParaRPr lang="en-US" sz="4000" dirty="0"/>
          </a:p>
        </p:txBody>
      </p:sp>
      <p:sp>
        <p:nvSpPr>
          <p:cNvPr id="11" name="Text 8"/>
          <p:cNvSpPr txBox="1"/>
          <p:nvPr/>
        </p:nvSpPr>
        <p:spPr>
          <a:xfrm>
            <a:off x="4749698" y="2697480"/>
            <a:ext cx="2692298" cy="411480"/>
          </a:xfrm>
          <a:prstGeom prst="rect">
            <a:avLst/>
          </a:prstGeom>
          <a:noFill/>
          <a:ln/>
        </p:spPr>
        <p:txBody>
          <a:bodyPr wrap="square" lIns="0" tIns="0" rIns="0" bIns="0" rtlCol="0" anchor="t"/>
          <a:lstStyle/>
          <a:p>
            <a:pPr indent="0" marL="0">
              <a:buNone/>
            </a:pPr>
            <a:r>
              <a:rPr lang="en-US" sz="1500" dirty="0">
                <a:solidFill>
                  <a:schemeClr val="tx2"/>
                </a:solidFill>
              </a:rPr>
              <a:t>16 threads</a:t>
            </a:r>
            <a:endParaRPr lang="en-US" sz="1500" dirty="0"/>
          </a:p>
        </p:txBody>
      </p:sp>
      <p:sp>
        <p:nvSpPr>
          <p:cNvPr id="12" name="arrow-2"/>
          <p:cNvSpPr/>
          <p:nvPr/>
        </p:nvSpPr>
        <p:spPr>
          <a:xfrm>
            <a:off x="7853477" y="2377440"/>
            <a:ext cx="411480" cy="274320"/>
          </a:xfrm>
          <a:prstGeom prst="rightArrow">
            <a:avLst/>
          </a:prstGeom>
          <a:solidFill>
            <a:schemeClr val="tx2"/>
          </a:solidFill>
          <a:ln w="12700">
            <a:solidFill>
              <a:schemeClr val="tx2"/>
            </a:solidFill>
            <a:prstDash val="solid"/>
          </a:ln>
        </p:spPr>
      </p:sp>
      <p:sp>
        <p:nvSpPr>
          <p:cNvPr id="13" name="stat-3"/>
          <p:cNvSpPr/>
          <p:nvPr/>
        </p:nvSpPr>
        <p:spPr>
          <a:xfrm>
            <a:off x="8402117" y="1783080"/>
            <a:ext cx="3240938" cy="1463040"/>
          </a:xfrm>
          <a:prstGeom prst="roundRect">
            <a:avLst>
              <a:gd name="adj" fmla="val 7500"/>
            </a:avLst>
          </a:prstGeom>
          <a:solidFill>
            <a:schemeClr val="tx1"/>
          </a:solidFill>
          <a:ln w="12700">
            <a:solidFill>
              <a:schemeClr val="tx1"/>
            </a:solidFill>
            <a:prstDash val="solid"/>
          </a:ln>
        </p:spPr>
      </p:sp>
      <p:sp>
        <p:nvSpPr>
          <p:cNvPr id="14" name="Text 11"/>
          <p:cNvSpPr txBox="1"/>
          <p:nvPr/>
        </p:nvSpPr>
        <p:spPr>
          <a:xfrm>
            <a:off x="8676437" y="1920240"/>
            <a:ext cx="2692298" cy="777240"/>
          </a:xfrm>
          <a:prstGeom prst="rect">
            <a:avLst/>
          </a:prstGeom>
          <a:noFill/>
          <a:ln/>
        </p:spPr>
        <p:txBody>
          <a:bodyPr wrap="square" lIns="0" tIns="0" rIns="0" bIns="0" rtlCol="0" anchor="t"/>
          <a:lstStyle/>
          <a:p>
            <a:pPr indent="0" marL="0">
              <a:buNone/>
            </a:pPr>
            <a:r>
              <a:rPr lang="en-US" sz="4000" b="1" dirty="0">
                <a:solidFill>
                  <a:schemeClr val="accent4"/>
                </a:solidFill>
              </a:rPr>
              <a:t>37.5 µs</a:t>
            </a:r>
            <a:endParaRPr lang="en-US" sz="4000" dirty="0"/>
          </a:p>
        </p:txBody>
      </p:sp>
      <p:sp>
        <p:nvSpPr>
          <p:cNvPr id="15" name="Text 12"/>
          <p:cNvSpPr txBox="1"/>
          <p:nvPr/>
        </p:nvSpPr>
        <p:spPr>
          <a:xfrm>
            <a:off x="8676437" y="2697480"/>
            <a:ext cx="2692298" cy="411480"/>
          </a:xfrm>
          <a:prstGeom prst="rect">
            <a:avLst/>
          </a:prstGeom>
          <a:noFill/>
          <a:ln/>
        </p:spPr>
        <p:txBody>
          <a:bodyPr wrap="square" lIns="0" tIns="0" rIns="0" bIns="0" rtlCol="0" anchor="t"/>
          <a:lstStyle/>
          <a:p>
            <a:pPr indent="0" marL="0">
              <a:buNone/>
            </a:pPr>
            <a:r>
              <a:rPr lang="en-US" sz="1500" dirty="0">
                <a:solidFill>
                  <a:srgbClr val="C9CDD6"/>
                </a:solidFill>
              </a:rPr>
              <a:t>128 threads: 340× the cost</a:t>
            </a:r>
            <a:endParaRPr lang="en-US" sz="1500" dirty="0"/>
          </a:p>
        </p:txBody>
      </p:sp>
      <p:sp>
        <p:nvSpPr>
          <p:cNvPr id="16" name="Text 13"/>
          <p:cNvSpPr txBox="1"/>
          <p:nvPr/>
        </p:nvSpPr>
        <p:spPr>
          <a:xfrm>
            <a:off x="548640" y="3657600"/>
            <a:ext cx="3454298" cy="21945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999,999 meetings</a:t>
            </a:r>
            <a:endParaRPr lang="en-US" sz="1900" dirty="0"/>
          </a:p>
          <a:p>
            <a:pPr indent="0" marL="0">
              <a:spcAft>
                <a:spcPts val="800"/>
              </a:spcAft>
              <a:buNone/>
            </a:pPr>
            <a:r>
              <a:rPr lang="en-US" sz="1600" dirty="0">
                <a:solidFill>
                  <a:schemeClr val="tx2"/>
                </a:solidFill>
              </a:rPr>
              <a:t>All x threads must arrive before any can start the next number. Meeting costs more than testing.</a:t>
            </a:r>
            <a:endParaRPr lang="en-US" sz="1900" dirty="0"/>
          </a:p>
        </p:txBody>
      </p:sp>
      <p:sp>
        <p:nvSpPr>
          <p:cNvPr id="17" name="Text 14"/>
          <p:cNvSpPr txBox="1"/>
          <p:nvPr/>
        </p:nvSpPr>
        <p:spPr>
          <a:xfrm>
            <a:off x="4368698" y="3657600"/>
            <a:ext cx="3454298" cy="21945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Too little work to split</a:t>
            </a:r>
            <a:endParaRPr lang="en-US" sz="1900" dirty="0"/>
          </a:p>
          <a:p>
            <a:pPr indent="0" marL="0">
              <a:spcAft>
                <a:spcPts val="800"/>
              </a:spcAft>
              <a:buNone/>
            </a:pPr>
            <a:r>
              <a:rPr lang="en-US" sz="1600" dirty="0">
                <a:solidFill>
                  <a:schemeClr val="tx2"/>
                </a:solidFill>
              </a:rPr>
              <a:t>n = 1,000,000 has 999 candidate divisors. Split 16 ways, that's about 62 per thread.</a:t>
            </a:r>
            <a:endParaRPr lang="en-US" sz="1900" dirty="0"/>
          </a:p>
        </p:txBody>
      </p:sp>
      <p:sp>
        <p:nvSpPr>
          <p:cNvPr id="18" name="Text 15"/>
          <p:cNvSpPr txBox="1"/>
          <p:nvPr/>
        </p:nvSpPr>
        <p:spPr>
          <a:xfrm>
            <a:off x="8188757" y="3657600"/>
            <a:ext cx="3454298" cy="2194560"/>
          </a:xfrm>
          <a:prstGeom prst="rect">
            <a:avLst/>
          </a:prstGeom>
          <a:noFill/>
          <a:ln/>
        </p:spPr>
        <p:txBody>
          <a:bodyPr wrap="square" lIns="0" tIns="0" rIns="0" bIns="0" rtlCol="0" anchor="t"/>
          <a:lstStyle/>
          <a:p>
            <a:pPr indent="0" marL="0">
              <a:spcAft>
                <a:spcPts val="800"/>
              </a:spcAft>
              <a:buNone/>
            </a:pPr>
            <a:r>
              <a:rPr lang="en-US" sz="1900" b="1" dirty="0">
                <a:solidFill>
                  <a:schemeClr val="tx1"/>
                </a:solidFill>
              </a:rPr>
              <a:t>Worse past 16 threads</a:t>
            </a:r>
            <a:endParaRPr lang="en-US" sz="1900" dirty="0"/>
          </a:p>
          <a:p>
            <a:pPr indent="0" marL="0">
              <a:spcAft>
                <a:spcPts val="800"/>
              </a:spcAft>
              <a:buNone/>
            </a:pPr>
            <a:r>
              <a:rPr lang="en-US" sz="1600" dirty="0">
                <a:solidFill>
                  <a:schemeClr val="tx2"/>
                </a:solidFill>
              </a:rPr>
              <a:t>From 16 to 32 threads the cost quadruples: a round waits for the OS to schedule threads that aren't running.</a:t>
            </a:r>
            <a:endParaRPr lang="en-US" sz="19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PRINTING IMMEDIATELY VS. AFTER THE JOIN</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When output is printed changes the cost</a:t>
            </a:r>
            <a:endParaRPr lang="en-US" sz="3200" dirty="0"/>
          </a:p>
        </p:txBody>
      </p:sp>
      <p:sp>
        <p:nvSpPr>
          <p:cNvPr id="5" name="panel-1"/>
          <p:cNvSpPr/>
          <p:nvPr/>
        </p:nvSpPr>
        <p:spPr>
          <a:xfrm>
            <a:off x="548640" y="1691640"/>
            <a:ext cx="5410048" cy="4206240"/>
          </a:xfrm>
          <a:prstGeom prst="roundRect">
            <a:avLst>
              <a:gd name="adj" fmla="val 2609"/>
            </a:avLst>
          </a:prstGeom>
          <a:solidFill>
            <a:schemeClr val="bg2"/>
          </a:solidFill>
          <a:ln w="12700">
            <a:solidFill>
              <a:schemeClr val="bg2"/>
            </a:solidFill>
            <a:prstDash val="solid"/>
          </a:ln>
        </p:spPr>
      </p:sp>
      <p:sp>
        <p:nvSpPr>
          <p:cNvPr id="6" name="Text 3"/>
          <p:cNvSpPr txBox="1"/>
          <p:nvPr/>
        </p:nvSpPr>
        <p:spPr>
          <a:xfrm>
            <a:off x="822960" y="1828800"/>
            <a:ext cx="4861408" cy="320040"/>
          </a:xfrm>
          <a:prstGeom prst="rect">
            <a:avLst/>
          </a:prstGeom>
          <a:noFill/>
          <a:ln/>
        </p:spPr>
        <p:txBody>
          <a:bodyPr wrap="square" lIns="0" tIns="0" rIns="0" bIns="0" rtlCol="0" anchor="t"/>
          <a:lstStyle/>
          <a:p>
            <a:pPr indent="0" marL="0">
              <a:buNone/>
            </a:pPr>
            <a:r>
              <a:rPr lang="en-US" sz="1400" dirty="0">
                <a:solidFill>
                  <a:schemeClr val="tx2"/>
                </a:solidFill>
              </a:rPr>
              <a:t>Straight division · x = 128, y = 10,000,000</a:t>
            </a:r>
            <a:endParaRPr lang="en-US" sz="1400" dirty="0"/>
          </a:p>
        </p:txBody>
      </p:sp>
      <p:sp>
        <p:nvSpPr>
          <p:cNvPr id="7" name="Text 4"/>
          <p:cNvSpPr txBox="1"/>
          <p:nvPr/>
        </p:nvSpPr>
        <p:spPr>
          <a:xfrm>
            <a:off x="822960" y="2148840"/>
            <a:ext cx="4861408" cy="457200"/>
          </a:xfrm>
          <a:prstGeom prst="rect">
            <a:avLst/>
          </a:prstGeom>
          <a:noFill/>
          <a:ln/>
        </p:spPr>
        <p:txBody>
          <a:bodyPr wrap="square" lIns="0" tIns="0" rIns="0" bIns="0" rtlCol="0" anchor="t"/>
          <a:lstStyle/>
          <a:p>
            <a:pPr indent="0" marL="0">
              <a:buNone/>
            </a:pPr>
            <a:r>
              <a:rPr lang="en-US" sz="2200" b="1" dirty="0">
                <a:solidFill>
                  <a:schemeClr val="tx1"/>
                </a:solidFill>
              </a:rPr>
              <a:t>Immediate is faster</a:t>
            </a:r>
            <a:endParaRPr lang="en-US" sz="2200" dirty="0"/>
          </a:p>
        </p:txBody>
      </p:sp>
      <p:graphicFrame>
        <p:nvGraphicFramePr>
          <p:cNvPr id="8" name="chart-printing-1" descr=""/>
          <p:cNvGraphicFramePr/>
          <p:nvPr/>
        </p:nvGraphicFramePr>
        <p:xfrm>
          <a:off x="731520" y="2651760"/>
          <a:ext cx="5044288" cy="16002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822960" y="4343400"/>
            <a:ext cx="4861408" cy="1417320"/>
          </a:xfrm>
          <a:prstGeom prst="rect">
            <a:avLst/>
          </a:prstGeom>
          <a:noFill/>
          <a:ln/>
        </p:spPr>
        <p:txBody>
          <a:bodyPr wrap="square" lIns="0" tIns="0" rIns="0" bIns="0" rtlCol="0" anchor="t"/>
          <a:lstStyle/>
          <a:p>
            <a:pPr indent="0" marL="0">
              <a:buNone/>
            </a:pPr>
            <a:r>
              <a:rPr lang="en-US" sz="1500" dirty="0">
                <a:solidFill>
                  <a:schemeClr val="tx2"/>
                </a:solidFill>
              </a:rPr>
              <a:t>V1's threads print while the others keep searching. V2 prints 664,579 primes from one thread after the join: about 245 ms, 46% of its run.</a:t>
            </a:r>
            <a:endParaRPr lang="en-US" sz="1500" dirty="0"/>
          </a:p>
        </p:txBody>
      </p:sp>
      <p:sp>
        <p:nvSpPr>
          <p:cNvPr id="10" name="panel-2"/>
          <p:cNvSpPr/>
          <p:nvPr/>
        </p:nvSpPr>
        <p:spPr>
          <a:xfrm>
            <a:off x="6233008" y="1691640"/>
            <a:ext cx="5410048" cy="4206240"/>
          </a:xfrm>
          <a:prstGeom prst="roundRect">
            <a:avLst>
              <a:gd name="adj" fmla="val 2609"/>
            </a:avLst>
          </a:prstGeom>
          <a:solidFill>
            <a:schemeClr val="bg2"/>
          </a:solidFill>
          <a:ln w="12700">
            <a:solidFill>
              <a:schemeClr val="bg2"/>
            </a:solidFill>
            <a:prstDash val="solid"/>
          </a:ln>
        </p:spPr>
      </p:sp>
      <p:sp>
        <p:nvSpPr>
          <p:cNvPr id="11" name="Text 7"/>
          <p:cNvSpPr txBox="1"/>
          <p:nvPr/>
        </p:nvSpPr>
        <p:spPr>
          <a:xfrm>
            <a:off x="6507328" y="1828800"/>
            <a:ext cx="4861408" cy="320040"/>
          </a:xfrm>
          <a:prstGeom prst="rect">
            <a:avLst/>
          </a:prstGeom>
          <a:noFill/>
          <a:ln/>
        </p:spPr>
        <p:txBody>
          <a:bodyPr wrap="square" lIns="0" tIns="0" rIns="0" bIns="0" rtlCol="0" anchor="t"/>
          <a:lstStyle/>
          <a:p>
            <a:pPr indent="0" marL="0">
              <a:buNone/>
            </a:pPr>
            <a:r>
              <a:rPr lang="en-US" sz="1400" dirty="0">
                <a:solidFill>
                  <a:schemeClr val="tx2"/>
                </a:solidFill>
              </a:rPr>
              <a:t>Divisibility testing · x = 4, y = 1,000,000</a:t>
            </a:r>
            <a:endParaRPr lang="en-US" sz="1400" dirty="0"/>
          </a:p>
        </p:txBody>
      </p:sp>
      <p:sp>
        <p:nvSpPr>
          <p:cNvPr id="12" name="Text 8"/>
          <p:cNvSpPr txBox="1"/>
          <p:nvPr/>
        </p:nvSpPr>
        <p:spPr>
          <a:xfrm>
            <a:off x="6507328" y="2148840"/>
            <a:ext cx="4861408" cy="457200"/>
          </a:xfrm>
          <a:prstGeom prst="rect">
            <a:avLst/>
          </a:prstGeom>
          <a:noFill/>
          <a:ln/>
        </p:spPr>
        <p:txBody>
          <a:bodyPr wrap="square" lIns="0" tIns="0" rIns="0" bIns="0" rtlCol="0" anchor="t"/>
          <a:lstStyle/>
          <a:p>
            <a:pPr indent="0" marL="0">
              <a:buNone/>
            </a:pPr>
            <a:r>
              <a:rPr lang="en-US" sz="2200" b="1" dirty="0">
                <a:solidFill>
                  <a:schemeClr val="tx1"/>
                </a:solidFill>
              </a:rPr>
              <a:t>Immediate is slower</a:t>
            </a:r>
            <a:endParaRPr lang="en-US" sz="2200" dirty="0"/>
          </a:p>
        </p:txBody>
      </p:sp>
      <p:graphicFrame>
        <p:nvGraphicFramePr>
          <p:cNvPr id="13" name="chart-printing-2" descr=""/>
          <p:cNvGraphicFramePr/>
          <p:nvPr/>
        </p:nvGraphicFramePr>
        <p:xfrm>
          <a:off x="6415888" y="2651760"/>
          <a:ext cx="5044288" cy="160020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6507328" y="4343400"/>
            <a:ext cx="4861408" cy="1417320"/>
          </a:xfrm>
          <a:prstGeom prst="rect">
            <a:avLst/>
          </a:prstGeom>
          <a:noFill/>
          <a:ln/>
        </p:spPr>
        <p:txBody>
          <a:bodyPr wrap="square" lIns="0" tIns="0" rIns="0" bIns="0" rtlCol="0" anchor="t"/>
          <a:lstStyle/>
          <a:p>
            <a:pPr indent="0" marL="0">
              <a:buNone/>
            </a:pPr>
            <a:r>
              <a:rPr lang="en-US" sz="1500" dirty="0">
                <a:solidFill>
                  <a:schemeClr val="tx2"/>
                </a:solidFill>
              </a:rPr>
              <a:t>V3 prints inside the barrier step while every other thread waits. From 16 threads up, the barrier cost hides the difference.</a:t>
            </a:r>
            <a:endParaRPr lang="en-US" sz="1500" dirty="0"/>
          </a:p>
        </p:txBody>
      </p:sp>
      <p:sp>
        <p:nvSpPr>
          <p:cNvPr id="15" name="Text 10"/>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300" dirty="0">
                <a:solidFill>
                  <a:schemeClr val="tx2"/>
                </a:solidFill>
              </a:rPr>
              <a:t>Measured into a file. A terminal prints far slower, so expect bigger gaps in the live demo.</a:t>
            </a:r>
            <a:endParaRPr lang="en-US" sz="13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V1 · x = 4, y = 100,000 · FIRST 120 OUTPUT LINES</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Immediate printing interleaves the output</a:t>
            </a:r>
            <a:endParaRPr lang="en-US" sz="3200" dirty="0"/>
          </a:p>
        </p:txBody>
      </p:sp>
      <p:graphicFrame>
        <p:nvGraphicFramePr>
          <p:cNvPr id="5" name="chart-interleaving" descr=""/>
          <p:cNvGraphicFramePr/>
          <p:nvPr/>
        </p:nvGraphicFramePr>
        <p:xfrm>
          <a:off x="548640" y="1554480"/>
          <a:ext cx="11094415" cy="3017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4754880"/>
            <a:ext cx="2567864" cy="640080"/>
          </a:xfrm>
          <a:prstGeom prst="rect">
            <a:avLst/>
          </a:prstGeom>
          <a:noFill/>
          <a:ln/>
        </p:spPr>
        <p:txBody>
          <a:bodyPr wrap="square" lIns="0" tIns="0" rIns="0" bIns="0" rtlCol="0" anchor="t"/>
          <a:lstStyle/>
          <a:p>
            <a:pPr indent="0" marL="0">
              <a:buNone/>
            </a:pPr>
            <a:r>
              <a:rPr lang="en-US" sz="3600" b="1" dirty="0">
                <a:solidFill>
                  <a:schemeClr val="tx1"/>
                </a:solidFill>
              </a:rPr>
              <a:t>96%</a:t>
            </a:r>
            <a:endParaRPr lang="en-US" sz="3600" dirty="0"/>
          </a:p>
        </p:txBody>
      </p:sp>
      <p:sp>
        <p:nvSpPr>
          <p:cNvPr id="7" name="Text 3"/>
          <p:cNvSpPr txBox="1"/>
          <p:nvPr/>
        </p:nvSpPr>
        <p:spPr>
          <a:xfrm>
            <a:off x="548640" y="5394960"/>
            <a:ext cx="2567864" cy="777240"/>
          </a:xfrm>
          <a:prstGeom prst="rect">
            <a:avLst/>
          </a:prstGeom>
          <a:noFill/>
          <a:ln/>
        </p:spPr>
        <p:txBody>
          <a:bodyPr wrap="square" lIns="0" tIns="0" rIns="0" bIns="0" rtlCol="0" anchor="t"/>
          <a:lstStyle/>
          <a:p>
            <a:pPr indent="0" marL="0">
              <a:buNone/>
            </a:pPr>
            <a:r>
              <a:rPr lang="en-US" sz="1400" dirty="0">
                <a:solidFill>
                  <a:schemeClr val="tx2"/>
                </a:solidFill>
              </a:rPr>
              <a:t>of lines come from a different thread than the line before</a:t>
            </a:r>
            <a:endParaRPr lang="en-US" sz="1400" dirty="0"/>
          </a:p>
        </p:txBody>
      </p:sp>
      <p:sp>
        <p:nvSpPr>
          <p:cNvPr id="8" name="Text 4"/>
          <p:cNvSpPr txBox="1"/>
          <p:nvPr/>
        </p:nvSpPr>
        <p:spPr>
          <a:xfrm>
            <a:off x="3390824" y="4754880"/>
            <a:ext cx="2567864" cy="640080"/>
          </a:xfrm>
          <a:prstGeom prst="rect">
            <a:avLst/>
          </a:prstGeom>
          <a:noFill/>
          <a:ln/>
        </p:spPr>
        <p:txBody>
          <a:bodyPr wrap="square" lIns="0" tIns="0" rIns="0" bIns="0" rtlCol="0" anchor="t"/>
          <a:lstStyle/>
          <a:p>
            <a:pPr indent="0" marL="0">
              <a:buNone/>
            </a:pPr>
            <a:r>
              <a:rPr lang="en-US" sz="3600" b="1" dirty="0">
                <a:solidFill>
                  <a:schemeClr val="tx1"/>
                </a:solidFill>
              </a:rPr>
              <a:t>48%</a:t>
            </a:r>
            <a:endParaRPr lang="en-US" sz="3600" dirty="0"/>
          </a:p>
        </p:txBody>
      </p:sp>
      <p:sp>
        <p:nvSpPr>
          <p:cNvPr id="9" name="Text 5"/>
          <p:cNvSpPr txBox="1"/>
          <p:nvPr/>
        </p:nvSpPr>
        <p:spPr>
          <a:xfrm>
            <a:off x="3390824" y="5394960"/>
            <a:ext cx="2567864" cy="777240"/>
          </a:xfrm>
          <a:prstGeom prst="rect">
            <a:avLst/>
          </a:prstGeom>
          <a:noFill/>
          <a:ln/>
        </p:spPr>
        <p:txBody>
          <a:bodyPr wrap="square" lIns="0" tIns="0" rIns="0" bIns="0" rtlCol="0" anchor="t"/>
          <a:lstStyle/>
          <a:p>
            <a:pPr indent="0" marL="0">
              <a:buNone/>
            </a:pPr>
            <a:r>
              <a:rPr lang="en-US" sz="1400" dirty="0">
                <a:solidFill>
                  <a:schemeClr val="tx2"/>
                </a:solidFill>
              </a:rPr>
              <a:t>show a smaller prime than the line before</a:t>
            </a:r>
            <a:endParaRPr lang="en-US" sz="1400" dirty="0"/>
          </a:p>
        </p:txBody>
      </p:sp>
      <p:sp>
        <p:nvSpPr>
          <p:cNvPr id="10" name="Text 6"/>
          <p:cNvSpPr txBox="1"/>
          <p:nvPr/>
        </p:nvSpPr>
        <p:spPr>
          <a:xfrm>
            <a:off x="6233008" y="4754880"/>
            <a:ext cx="2567864" cy="640080"/>
          </a:xfrm>
          <a:prstGeom prst="rect">
            <a:avLst/>
          </a:prstGeom>
          <a:noFill/>
          <a:ln/>
        </p:spPr>
        <p:txBody>
          <a:bodyPr wrap="square" lIns="0" tIns="0" rIns="0" bIns="0" rtlCol="0" anchor="t"/>
          <a:lstStyle/>
          <a:p>
            <a:pPr indent="0" marL="0">
              <a:buNone/>
            </a:pPr>
            <a:r>
              <a:rPr lang="en-US" sz="3600" b="1" dirty="0">
                <a:solidFill>
                  <a:schemeClr val="tx1"/>
                </a:solidFill>
              </a:rPr>
              <a:t>816</a:t>
            </a:r>
            <a:endParaRPr lang="en-US" sz="3600" dirty="0"/>
          </a:p>
        </p:txBody>
      </p:sp>
      <p:sp>
        <p:nvSpPr>
          <p:cNvPr id="11" name="Text 7"/>
          <p:cNvSpPr txBox="1"/>
          <p:nvPr/>
        </p:nvSpPr>
        <p:spPr>
          <a:xfrm>
            <a:off x="6233008" y="5394960"/>
            <a:ext cx="2567864" cy="777240"/>
          </a:xfrm>
          <a:prstGeom prst="rect">
            <a:avLst/>
          </a:prstGeom>
          <a:noFill/>
          <a:ln/>
        </p:spPr>
        <p:txBody>
          <a:bodyPr wrap="square" lIns="0" tIns="0" rIns="0" bIns="0" rtlCol="0" anchor="t"/>
          <a:lstStyle/>
          <a:p>
            <a:pPr indent="0" marL="0">
              <a:buNone/>
            </a:pPr>
            <a:r>
              <a:rPr lang="en-US" sz="1400" dirty="0">
                <a:solidFill>
                  <a:schemeClr val="tx2"/>
                </a:solidFill>
              </a:rPr>
              <a:t>timestamps go backwards: taken before waiting for the lock</a:t>
            </a:r>
            <a:endParaRPr lang="en-US" sz="1400" dirty="0"/>
          </a:p>
        </p:txBody>
      </p:sp>
      <p:sp>
        <p:nvSpPr>
          <p:cNvPr id="12" name="Text 8"/>
          <p:cNvSpPr txBox="1"/>
          <p:nvPr/>
        </p:nvSpPr>
        <p:spPr>
          <a:xfrm>
            <a:off x="9075191" y="4754880"/>
            <a:ext cx="2567864" cy="640080"/>
          </a:xfrm>
          <a:prstGeom prst="rect">
            <a:avLst/>
          </a:prstGeom>
          <a:noFill/>
          <a:ln/>
        </p:spPr>
        <p:txBody>
          <a:bodyPr wrap="square" lIns="0" tIns="0" rIns="0" bIns="0" rtlCol="0" anchor="t"/>
          <a:lstStyle/>
          <a:p>
            <a:pPr indent="0" marL="0">
              <a:buNone/>
            </a:pPr>
            <a:r>
              <a:rPr lang="en-US" sz="3600" b="1" dirty="0">
                <a:solidFill>
                  <a:schemeClr val="tx1"/>
                </a:solidFill>
              </a:rPr>
              <a:t>0</a:t>
            </a:r>
            <a:endParaRPr lang="en-US" sz="3600" dirty="0"/>
          </a:p>
        </p:txBody>
      </p:sp>
      <p:sp>
        <p:nvSpPr>
          <p:cNvPr id="13" name="Text 9"/>
          <p:cNvSpPr txBox="1"/>
          <p:nvPr/>
        </p:nvSpPr>
        <p:spPr>
          <a:xfrm>
            <a:off x="9075191" y="5394960"/>
            <a:ext cx="2567864" cy="777240"/>
          </a:xfrm>
          <a:prstGeom prst="rect">
            <a:avLst/>
          </a:prstGeom>
          <a:noFill/>
          <a:ln/>
        </p:spPr>
        <p:txBody>
          <a:bodyPr wrap="square" lIns="0" tIns="0" rIns="0" bIns="0" rtlCol="0" anchor="t"/>
          <a:lstStyle/>
          <a:p>
            <a:pPr indent="0" marL="0">
              <a:buNone/>
            </a:pPr>
            <a:r>
              <a:rPr lang="en-US" sz="1400" dirty="0">
                <a:solidFill>
                  <a:schemeClr val="tx2"/>
                </a:solidFill>
              </a:rPr>
              <a:t>broken lines: each is written whole under a mutex</a:t>
            </a:r>
            <a:endParaRPr lang="en-US" sz="14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1" type="body" hasCustomPrompt="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chemeClr val="accent5"/>
                </a:solidFill>
              </a:rPr>
              <a:t>CONCLUSIONS</a:t>
            </a: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What the four variants show</a:t>
            </a:r>
            <a:endParaRPr lang="en-US" sz="3200" dirty="0"/>
          </a:p>
        </p:txBody>
      </p:sp>
      <p:sp>
        <p:nvSpPr>
          <p:cNvPr id="5" name="badge-a"/>
          <p:cNvSpPr/>
          <p:nvPr/>
        </p:nvSpPr>
        <p:spPr>
          <a:xfrm>
            <a:off x="548640" y="1828800"/>
            <a:ext cx="548640" cy="548640"/>
          </a:xfrm>
          <a:prstGeom prst="ellipse">
            <a:avLst/>
          </a:prstGeom>
          <a:solidFill>
            <a:schemeClr val="tx1"/>
          </a:solidFill>
          <a:ln w="12700">
            <a:solidFill>
              <a:schemeClr val="tx1"/>
            </a:solidFill>
            <a:prstDash val="solid"/>
          </a:ln>
        </p:spPr>
      </p:sp>
      <p:sp>
        <p:nvSpPr>
          <p:cNvPr id="6" name="Text 3"/>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Text 4"/>
          <p:cNvSpPr txBox="1"/>
          <p:nvPr/>
        </p:nvSpPr>
        <p:spPr>
          <a:xfrm>
            <a:off x="1371600" y="1783080"/>
            <a:ext cx="10271455" cy="9601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More threads help only when each one has real work</a:t>
            </a:r>
            <a:endParaRPr lang="en-US" sz="2000" dirty="0"/>
          </a:p>
          <a:p>
            <a:pPr indent="0" marL="0">
              <a:spcAft>
                <a:spcPts val="400"/>
              </a:spcAft>
              <a:buNone/>
            </a:pPr>
            <a:r>
              <a:rPr lang="en-US" sz="1600" dirty="0">
                <a:solidFill>
                  <a:schemeClr val="tx2"/>
                </a:solidFill>
              </a:rPr>
              <a:t>8.2× faster with big blocks, 265× slower with tiny shared tasks. Nothing improves past 16 logical CPUs.</a:t>
            </a:r>
            <a:endParaRPr lang="en-US" sz="2000" dirty="0"/>
          </a:p>
        </p:txBody>
      </p:sp>
      <p:sp>
        <p:nvSpPr>
          <p:cNvPr id="8" name="badge-b"/>
          <p:cNvSpPr/>
          <p:nvPr/>
        </p:nvSpPr>
        <p:spPr>
          <a:xfrm>
            <a:off x="548640" y="2907792"/>
            <a:ext cx="548640" cy="548640"/>
          </a:xfrm>
          <a:prstGeom prst="ellipse">
            <a:avLst/>
          </a:prstGeom>
          <a:solidFill>
            <a:schemeClr val="tx1"/>
          </a:solidFill>
          <a:ln w="12700">
            <a:solidFill>
              <a:schemeClr val="tx1"/>
            </a:solidFill>
            <a:prstDash val="solid"/>
          </a:ln>
        </p:spPr>
      </p:sp>
      <p:sp>
        <p:nvSpPr>
          <p:cNvPr id="9" name="Text 6"/>
          <p:cNvSpPr txBox="1"/>
          <p:nvPr/>
        </p:nvSpPr>
        <p:spPr>
          <a:xfrm>
            <a:off x="548640" y="2907792"/>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Text 7"/>
          <p:cNvSpPr txBox="1"/>
          <p:nvPr/>
        </p:nvSpPr>
        <p:spPr>
          <a:xfrm>
            <a:off x="1371600" y="2862072"/>
            <a:ext cx="10271455" cy="9601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Threads printing at once scramble the output</a:t>
            </a:r>
            <a:endParaRPr lang="en-US" sz="2000" dirty="0"/>
          </a:p>
          <a:p>
            <a:pPr indent="0" marL="0">
              <a:spcAft>
                <a:spcPts val="400"/>
              </a:spcAft>
              <a:buNone/>
            </a:pPr>
            <a:r>
              <a:rPr lang="en-US" sz="1600" dirty="0">
                <a:solidFill>
                  <a:schemeClr val="tx2"/>
                </a:solidFill>
              </a:rPr>
              <a:t>A mutex keeps lines whole, but not in order: even timestamps run backwards.</a:t>
            </a:r>
            <a:endParaRPr lang="en-US" sz="2000" dirty="0"/>
          </a:p>
        </p:txBody>
      </p:sp>
      <p:sp>
        <p:nvSpPr>
          <p:cNvPr id="11" name="badge-c"/>
          <p:cNvSpPr/>
          <p:nvPr/>
        </p:nvSpPr>
        <p:spPr>
          <a:xfrm>
            <a:off x="548640" y="3986784"/>
            <a:ext cx="548640" cy="548640"/>
          </a:xfrm>
          <a:prstGeom prst="ellipse">
            <a:avLst/>
          </a:prstGeom>
          <a:solidFill>
            <a:schemeClr val="tx1"/>
          </a:solidFill>
          <a:ln w="12700">
            <a:solidFill>
              <a:schemeClr val="tx1"/>
            </a:solidFill>
            <a:prstDash val="solid"/>
          </a:ln>
        </p:spPr>
      </p:sp>
      <p:sp>
        <p:nvSpPr>
          <p:cNvPr id="12" name="Text 9"/>
          <p:cNvSpPr txBox="1"/>
          <p:nvPr/>
        </p:nvSpPr>
        <p:spPr>
          <a:xfrm>
            <a:off x="548640" y="3986784"/>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Text 10"/>
          <p:cNvSpPr txBox="1"/>
          <p:nvPr/>
        </p:nvSpPr>
        <p:spPr>
          <a:xfrm>
            <a:off x="1371600" y="3941064"/>
            <a:ext cx="10271455" cy="9601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Every join waits for the slowest thread</a:t>
            </a:r>
            <a:endParaRPr lang="en-US" sz="2000" dirty="0"/>
          </a:p>
          <a:p>
            <a:pPr indent="0" marL="0">
              <a:spcAft>
                <a:spcPts val="400"/>
              </a:spcAft>
              <a:buNone/>
            </a:pPr>
            <a:r>
              <a:rPr lang="en-US" sz="1600" dirty="0">
                <a:solidFill>
                  <a:schemeClr val="tx2"/>
                </a:solidFill>
              </a:rPr>
              <a:t>Uneven blocks leave 25–51% of capacity idle; a barrier per number costs more than the testing itself.</a:t>
            </a:r>
            <a:endParaRPr lang="en-US" sz="2000" dirty="0"/>
          </a:p>
        </p:txBody>
      </p:sp>
      <p:sp>
        <p:nvSpPr>
          <p:cNvPr id="14" name="badge-d"/>
          <p:cNvSpPr/>
          <p:nvPr/>
        </p:nvSpPr>
        <p:spPr>
          <a:xfrm>
            <a:off x="548640" y="5065776"/>
            <a:ext cx="548640" cy="548640"/>
          </a:xfrm>
          <a:prstGeom prst="ellipse">
            <a:avLst/>
          </a:prstGeom>
          <a:solidFill>
            <a:schemeClr val="tx1"/>
          </a:solidFill>
          <a:ln w="12700">
            <a:solidFill>
              <a:schemeClr val="tx1"/>
            </a:solidFill>
            <a:prstDash val="solid"/>
          </a:ln>
        </p:spPr>
      </p:sp>
      <p:sp>
        <p:nvSpPr>
          <p:cNvPr id="15" name="Text 12"/>
          <p:cNvSpPr txBox="1"/>
          <p:nvPr/>
        </p:nvSpPr>
        <p:spPr>
          <a:xfrm>
            <a:off x="548640" y="5065776"/>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Text 13"/>
          <p:cNvSpPr txBox="1"/>
          <p:nvPr/>
        </p:nvSpPr>
        <p:spPr>
          <a:xfrm>
            <a:off x="1371600" y="5020056"/>
            <a:ext cx="10271455" cy="9601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Divide the data, not the tiny tasks</a:t>
            </a:r>
            <a:endParaRPr lang="en-US" sz="2000" dirty="0"/>
          </a:p>
          <a:p>
            <a:pPr indent="0" marL="0">
              <a:spcAft>
                <a:spcPts val="400"/>
              </a:spcAft>
              <a:buNone/>
            </a:pPr>
            <a:r>
              <a:rPr lang="en-US" sz="1600" dirty="0">
                <a:solidFill>
                  <a:schemeClr val="tx2"/>
                </a:solidFill>
              </a:rPr>
              <a:t>Large independent chunks scale; splitting small jobs buys coordination, not speed.</a:t>
            </a:r>
            <a:endParaRPr lang="en-US" sz="2000" dirty="0"/>
          </a:p>
        </p:txBody>
      </p:sp>
      <p:sp>
        <p:nvSpPr>
          <p:cNvPr id="25" name="Slide Number Placeholder 0"/>
          <p:cNvSpPr>
            <a:spLocks noGrp="1"/>
          </p:cNvSpPr>
          <p:nvPr>
            <p:ph type="sldNum" sz="quarter" idx="4294967295"/>
          </p:nvPr>
        </p:nvSpPr>
        <p:spPr>
          <a:xfrm>
            <a:off x="10911535" y="635508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hreaded Prime Search">
  <a:themeElements>
    <a:clrScheme name="Threaded Prime Search">
      <a:dk1>
        <a:srgbClr val="1B2230"/>
      </a:dk1>
      <a:lt1>
        <a:srgbClr val="FFFFFF"/>
      </a:lt1>
      <a:dk2>
        <a:srgbClr val="4A5160"/>
      </a:dk2>
      <a:lt2>
        <a:srgbClr val="F1F3F6"/>
      </a:lt2>
      <a:accent1>
        <a:srgbClr val="2A78D6"/>
      </a:accent1>
      <a:accent2>
        <a:srgbClr val="EB6834"/>
      </a:accent2>
      <a:accent3>
        <a:srgbClr val="1BAF7A"/>
      </a:accent3>
      <a:accent4>
        <a:srgbClr val="EDA100"/>
      </a:accent4>
      <a:accent5>
        <a:srgbClr val="1C5CAB"/>
      </a:accent5>
      <a:accent6>
        <a:srgbClr val="6DA7EC"/>
      </a:accent6>
      <a:hlink>
        <a:srgbClr val="1C5CAB"/>
      </a:hlink>
      <a:folHlink>
        <a:srgbClr val="4A5160"/>
      </a:folHlink>
    </a:clrScheme>
    <a:fontScheme name="Threaded Prime Sear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Threaded Prime Search: Variant Analysis</dc:title>
  <dc:subject>STDISCM Problem Set 1</dc:subject>
  <dc:creator>PptxGenJS</dc:creator>
  <cp:lastModifiedBy>PptxGenJS</cp:lastModifiedBy>
  <cp:revision>1</cp:revision>
  <dcterms:created xsi:type="dcterms:W3CDTF">2026-10-10T01:50:43Z</dcterms:created>
  <dcterms:modified xsi:type="dcterms:W3CDTF">2026-10-10T01:50:43Z</dcterms:modified>
</cp:coreProperties>
</file>